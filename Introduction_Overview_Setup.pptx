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3744" r:id="rId2"/>
  </p:sldMasterIdLst>
  <p:notesMasterIdLst>
    <p:notesMasterId r:id="rId22"/>
  </p:notesMasterIdLst>
  <p:sldIdLst>
    <p:sldId id="256" r:id="rId3"/>
    <p:sldId id="258" r:id="rId4"/>
    <p:sldId id="260" r:id="rId5"/>
    <p:sldId id="261" r:id="rId6"/>
    <p:sldId id="264" r:id="rId7"/>
    <p:sldId id="263" r:id="rId8"/>
    <p:sldId id="265" r:id="rId9"/>
    <p:sldId id="304" r:id="rId10"/>
    <p:sldId id="310" r:id="rId11"/>
    <p:sldId id="317" r:id="rId12"/>
    <p:sldId id="306" r:id="rId13"/>
    <p:sldId id="313" r:id="rId14"/>
    <p:sldId id="307" r:id="rId15"/>
    <p:sldId id="308" r:id="rId16"/>
    <p:sldId id="266" r:id="rId17"/>
    <p:sldId id="311" r:id="rId18"/>
    <p:sldId id="315" r:id="rId19"/>
    <p:sldId id="270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2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C3ADA0-CA5E-4F83-BB3F-FA4C2C332BDE}" type="doc">
      <dgm:prSet loTypeId="urn:microsoft.com/office/officeart/2005/8/layout/process1" loCatId="process" qsTypeId="urn:microsoft.com/office/officeart/2005/8/quickstyle/simple1#2" qsCatId="simple" csTypeId="urn:microsoft.com/office/officeart/2005/8/colors/accent0_1#2" csCatId="mainScheme" phldr="1"/>
      <dgm:spPr/>
      <dgm:t>
        <a:bodyPr/>
        <a:lstStyle/>
        <a:p>
          <a:endParaRPr lang="en-US"/>
        </a:p>
      </dgm:t>
    </dgm:pt>
    <dgm:pt modelId="{6E4CF8A3-6313-4A1D-8655-0FB62AC8202C}">
      <dgm:prSet phldrT="[Text]" custT="1"/>
      <dgm:spPr>
        <a:ln>
          <a:solidFill>
            <a:srgbClr val="0F2044"/>
          </a:solidFill>
        </a:ln>
      </dgm:spPr>
      <dgm:t>
        <a:bodyPr/>
        <a:lstStyle/>
        <a:p>
          <a:pPr algn="ctr"/>
          <a:endParaRPr lang="en-US" sz="1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US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LLM Cognitive Model</a:t>
          </a:r>
        </a:p>
        <a:p>
          <a:pPr algn="ctr"/>
          <a:endParaRPr lang="en-US" sz="1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2F93AE-02C7-4CF4-995A-5F1B4E05C243}" type="parTrans" cxnId="{CB3CA185-95CC-497F-8C24-A40A86AC1E35}">
      <dgm:prSet/>
      <dgm:spPr/>
      <dgm:t>
        <a:bodyPr/>
        <a:lstStyle/>
        <a:p>
          <a:pPr algn="l"/>
          <a:endParaRPr lang="en-US"/>
        </a:p>
      </dgm:t>
    </dgm:pt>
    <dgm:pt modelId="{7558748C-A50E-4EBE-99F5-C7C25A0CE9FB}" type="sibTrans" cxnId="{CB3CA185-95CC-497F-8C24-A40A86AC1E35}">
      <dgm:prSet custT="1"/>
      <dgm:spPr/>
      <dgm:t>
        <a:bodyPr/>
        <a:lstStyle/>
        <a:p>
          <a:pPr algn="l"/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16CD58-6A66-4793-81E7-FA176DFFB6BC}">
      <dgm:prSet phldrT="[Text]" custT="1"/>
      <dgm:spPr>
        <a:ln>
          <a:solidFill>
            <a:srgbClr val="0F2044"/>
          </a:solidFill>
        </a:ln>
      </dgm:spPr>
      <dgm:t>
        <a:bodyPr/>
        <a:lstStyle/>
        <a:p>
          <a:pPr algn="l"/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Blueprint</a:t>
          </a:r>
        </a:p>
      </dgm:t>
    </dgm:pt>
    <dgm:pt modelId="{FCCA9159-394F-4666-B2A6-AC106A216CAA}" type="parTrans" cxnId="{11F7753D-738A-403F-B4AA-40CBDEABBC95}">
      <dgm:prSet/>
      <dgm:spPr/>
      <dgm:t>
        <a:bodyPr/>
        <a:lstStyle/>
        <a:p>
          <a:pPr algn="l"/>
          <a:endParaRPr lang="en-US"/>
        </a:p>
      </dgm:t>
    </dgm:pt>
    <dgm:pt modelId="{04A8467C-F175-4FD8-A266-EABD10817A38}" type="sibTrans" cxnId="{11F7753D-738A-403F-B4AA-40CBDEABBC95}">
      <dgm:prSet/>
      <dgm:spPr/>
      <dgm:t>
        <a:bodyPr/>
        <a:lstStyle/>
        <a:p>
          <a:pPr algn="l"/>
          <a:endParaRPr lang="en-US"/>
        </a:p>
      </dgm:t>
    </dgm:pt>
    <dgm:pt modelId="{2926AA99-8AEB-4261-966B-53FAF8289D24}">
      <dgm:prSet phldrT="[Text]" custT="1"/>
      <dgm:spPr>
        <a:ln>
          <a:solidFill>
            <a:srgbClr val="0F2044"/>
          </a:solidFill>
        </a:ln>
      </dgm:spPr>
      <dgm:t>
        <a:bodyPr/>
        <a:lstStyle/>
        <a:p>
          <a:pPr algn="l"/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SME's</a:t>
          </a:r>
        </a:p>
      </dgm:t>
    </dgm:pt>
    <dgm:pt modelId="{4A33912C-7C1C-41F0-BBCD-D132DCBC24C1}" type="parTrans" cxnId="{D4E19AD6-DE11-432C-8F5C-80FE17DF5C7B}">
      <dgm:prSet/>
      <dgm:spPr/>
      <dgm:t>
        <a:bodyPr/>
        <a:lstStyle/>
        <a:p>
          <a:pPr algn="l"/>
          <a:endParaRPr lang="en-US"/>
        </a:p>
      </dgm:t>
    </dgm:pt>
    <dgm:pt modelId="{4763EC08-B342-4B0C-A569-FF02692F2106}" type="sibTrans" cxnId="{D4E19AD6-DE11-432C-8F5C-80FE17DF5C7B}">
      <dgm:prSet/>
      <dgm:spPr/>
      <dgm:t>
        <a:bodyPr/>
        <a:lstStyle/>
        <a:p>
          <a:pPr algn="l"/>
          <a:endParaRPr lang="en-US"/>
        </a:p>
      </dgm:t>
    </dgm:pt>
    <dgm:pt modelId="{281D7BF4-28B3-4A11-A61D-C0A95C7236B4}">
      <dgm:prSet phldrT="[Text]" custT="1"/>
      <dgm:spPr/>
      <dgm:t>
        <a:bodyPr/>
        <a:lstStyle/>
        <a:p>
          <a:pPr algn="ctr"/>
          <a:endParaRPr lang="en-US" sz="1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US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Choose Model Architecture</a:t>
          </a:r>
        </a:p>
        <a:p>
          <a:pPr algn="ctr"/>
          <a:endParaRPr lang="en-US" sz="1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AF41D0-0684-49BC-AD94-2938F3C0827F}" type="parTrans" cxnId="{F0EEC4D1-1947-44A6-AE59-CA111FAE7D60}">
      <dgm:prSet/>
      <dgm:spPr/>
      <dgm:t>
        <a:bodyPr/>
        <a:lstStyle/>
        <a:p>
          <a:pPr algn="l"/>
          <a:endParaRPr lang="en-US"/>
        </a:p>
      </dgm:t>
    </dgm:pt>
    <dgm:pt modelId="{CD56B2CD-A549-4443-BCF4-4AC6E9CC4840}" type="sibTrans" cxnId="{F0EEC4D1-1947-44A6-AE59-CA111FAE7D60}">
      <dgm:prSet custT="1"/>
      <dgm:spPr/>
      <dgm:t>
        <a:bodyPr/>
        <a:lstStyle/>
        <a:p>
          <a:pPr algn="l"/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619CD2-34F9-4A43-99D3-EB82E961F10D}">
      <dgm:prSet phldrT="[Text]" custT="1"/>
      <dgm:spPr/>
      <dgm:t>
        <a:bodyPr/>
        <a:lstStyle/>
        <a:p>
          <a:pPr algn="l"/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Prompt Engineering</a:t>
          </a:r>
        </a:p>
      </dgm:t>
    </dgm:pt>
    <dgm:pt modelId="{81FA6092-DF30-4225-B5EB-E789367423CD}" type="parTrans" cxnId="{F08FB1AB-8658-4260-8109-26AF7055C726}">
      <dgm:prSet/>
      <dgm:spPr/>
      <dgm:t>
        <a:bodyPr/>
        <a:lstStyle/>
        <a:p>
          <a:pPr algn="l"/>
          <a:endParaRPr lang="en-US"/>
        </a:p>
      </dgm:t>
    </dgm:pt>
    <dgm:pt modelId="{953426A3-5D9A-47B5-B8FE-266C166A7A11}" type="sibTrans" cxnId="{F08FB1AB-8658-4260-8109-26AF7055C726}">
      <dgm:prSet/>
      <dgm:spPr/>
      <dgm:t>
        <a:bodyPr/>
        <a:lstStyle/>
        <a:p>
          <a:pPr algn="l"/>
          <a:endParaRPr lang="en-US"/>
        </a:p>
      </dgm:t>
    </dgm:pt>
    <dgm:pt modelId="{B2D46A6B-FEE9-4EAE-9915-3165E055B13A}">
      <dgm:prSet phldrT="[Text]" custT="1"/>
      <dgm:spPr/>
      <dgm:t>
        <a:bodyPr/>
        <a:lstStyle/>
        <a:p>
          <a:pPr algn="l"/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RAG</a:t>
          </a:r>
        </a:p>
      </dgm:t>
    </dgm:pt>
    <dgm:pt modelId="{0C2226E2-9634-405A-ABB9-08DF3E0DB3A6}" type="parTrans" cxnId="{E67E7DCB-4E9A-4BAC-98EF-F2585FCA3B04}">
      <dgm:prSet/>
      <dgm:spPr/>
      <dgm:t>
        <a:bodyPr/>
        <a:lstStyle/>
        <a:p>
          <a:pPr algn="l"/>
          <a:endParaRPr lang="en-US"/>
        </a:p>
      </dgm:t>
    </dgm:pt>
    <dgm:pt modelId="{185E1DAE-AE8F-43D2-9D6D-43F936DA5E14}" type="sibTrans" cxnId="{E67E7DCB-4E9A-4BAC-98EF-F2585FCA3B04}">
      <dgm:prSet/>
      <dgm:spPr/>
      <dgm:t>
        <a:bodyPr/>
        <a:lstStyle/>
        <a:p>
          <a:pPr algn="l"/>
          <a:endParaRPr lang="en-US"/>
        </a:p>
      </dgm:t>
    </dgm:pt>
    <dgm:pt modelId="{A875B59F-6EA0-4BA5-994D-5EE439740ED7}">
      <dgm:prSet phldrT="[Text]" custT="1"/>
      <dgm:spPr/>
      <dgm:t>
        <a:bodyPr/>
        <a:lstStyle/>
        <a:p>
          <a:pPr algn="ctr"/>
          <a:endParaRPr lang="en-US" sz="1200" b="1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US" sz="1200" b="1">
              <a:latin typeface="Times New Roman" panose="02020603050405020304" pitchFamily="18" charset="0"/>
              <a:cs typeface="Times New Roman" panose="02020603050405020304" pitchFamily="18" charset="0"/>
            </a:rPr>
            <a:t>Generate Test Items </a:t>
          </a:r>
        </a:p>
        <a:p>
          <a:pPr algn="ctr"/>
          <a:endParaRPr lang="en-US" sz="1200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781A50-55BF-458F-AB16-6D3C86D7D192}" type="parTrans" cxnId="{996F8212-E9DC-464B-832A-CEA09ABAF949}">
      <dgm:prSet/>
      <dgm:spPr/>
      <dgm:t>
        <a:bodyPr/>
        <a:lstStyle/>
        <a:p>
          <a:pPr algn="l"/>
          <a:endParaRPr lang="en-US"/>
        </a:p>
      </dgm:t>
    </dgm:pt>
    <dgm:pt modelId="{FA39FEED-3AAD-4F8F-940B-1779B7D93DCB}" type="sibTrans" cxnId="{996F8212-E9DC-464B-832A-CEA09ABAF949}">
      <dgm:prSet/>
      <dgm:spPr/>
      <dgm:t>
        <a:bodyPr/>
        <a:lstStyle/>
        <a:p>
          <a:pPr algn="l"/>
          <a:endParaRPr lang="en-US"/>
        </a:p>
      </dgm:t>
    </dgm:pt>
    <dgm:pt modelId="{1B7A8ADC-C162-450F-BD1D-DEE7E83A5DF2}">
      <dgm:prSet phldrT="[Text]" custT="1"/>
      <dgm:spPr/>
      <dgm:t>
        <a:bodyPr/>
        <a:lstStyle/>
        <a:p>
          <a:pPr algn="l"/>
          <a:r>
            <a:rPr lang="en-US" sz="12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SME</a:t>
          </a:r>
        </a:p>
      </dgm:t>
    </dgm:pt>
    <dgm:pt modelId="{57B3363A-3530-40AA-A416-3EDC10AEFE63}" type="parTrans" cxnId="{A49CA108-884B-41B2-BCDF-6D3DC500A7B0}">
      <dgm:prSet/>
      <dgm:spPr/>
      <dgm:t>
        <a:bodyPr/>
        <a:lstStyle/>
        <a:p>
          <a:pPr algn="l"/>
          <a:endParaRPr lang="en-US"/>
        </a:p>
      </dgm:t>
    </dgm:pt>
    <dgm:pt modelId="{B0876C2E-8AB2-4728-A81C-CF7F708D780E}" type="sibTrans" cxnId="{A49CA108-884B-41B2-BCDF-6D3DC500A7B0}">
      <dgm:prSet/>
      <dgm:spPr/>
      <dgm:t>
        <a:bodyPr/>
        <a:lstStyle/>
        <a:p>
          <a:pPr algn="l"/>
          <a:endParaRPr lang="en-US"/>
        </a:p>
      </dgm:t>
    </dgm:pt>
    <dgm:pt modelId="{1BD44C50-A9D7-4D35-B279-C1022431BE77}">
      <dgm:prSet phldrT="[Text]" custT="1"/>
      <dgm:spPr>
        <a:ln>
          <a:solidFill>
            <a:srgbClr val="0F2044"/>
          </a:solidFill>
        </a:ln>
      </dgm:spPr>
      <dgm:t>
        <a:bodyPr/>
        <a:lstStyle/>
        <a:p>
          <a:pPr algn="l"/>
          <a:r>
            <a:rPr lang="en-US" sz="12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SME+Blueprint</a:t>
          </a:r>
        </a:p>
      </dgm:t>
    </dgm:pt>
    <dgm:pt modelId="{8DA5FA04-CC0C-4894-B17D-395C4A3D20B2}" type="parTrans" cxnId="{6B580C4F-8FA6-41C7-A858-0A51E8904318}">
      <dgm:prSet/>
      <dgm:spPr/>
      <dgm:t>
        <a:bodyPr/>
        <a:lstStyle/>
        <a:p>
          <a:pPr algn="l"/>
          <a:endParaRPr lang="en-US"/>
        </a:p>
      </dgm:t>
    </dgm:pt>
    <dgm:pt modelId="{4B553BB7-372D-4D65-92E7-FC7212971078}" type="sibTrans" cxnId="{6B580C4F-8FA6-41C7-A858-0A51E8904318}">
      <dgm:prSet/>
      <dgm:spPr/>
      <dgm:t>
        <a:bodyPr/>
        <a:lstStyle/>
        <a:p>
          <a:pPr algn="l"/>
          <a:endParaRPr lang="en-US"/>
        </a:p>
      </dgm:t>
    </dgm:pt>
    <dgm:pt modelId="{B2E150BF-618F-43B7-9F61-BA5A479B029B}">
      <dgm:prSet phldrT="[Text]" custT="1"/>
      <dgm:spPr/>
      <dgm:t>
        <a:bodyPr/>
        <a:lstStyle/>
        <a:p>
          <a:pPr algn="l"/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Fine-Tuning</a:t>
          </a:r>
        </a:p>
      </dgm:t>
    </dgm:pt>
    <dgm:pt modelId="{258796EE-261A-4012-A386-B99D3811EE5B}" type="parTrans" cxnId="{0F71F903-56DE-43E2-BA1B-26C283793444}">
      <dgm:prSet/>
      <dgm:spPr/>
      <dgm:t>
        <a:bodyPr/>
        <a:lstStyle/>
        <a:p>
          <a:pPr algn="l"/>
          <a:endParaRPr lang="en-US"/>
        </a:p>
      </dgm:t>
    </dgm:pt>
    <dgm:pt modelId="{B7B1B672-EBE7-48C9-B68B-49C81ADC61EB}" type="sibTrans" cxnId="{0F71F903-56DE-43E2-BA1B-26C283793444}">
      <dgm:prSet/>
      <dgm:spPr/>
      <dgm:t>
        <a:bodyPr/>
        <a:lstStyle/>
        <a:p>
          <a:pPr algn="l"/>
          <a:endParaRPr lang="en-US"/>
        </a:p>
      </dgm:t>
    </dgm:pt>
    <dgm:pt modelId="{69366852-CD1D-431C-B7F8-AE954A9E75EE}">
      <dgm:prSet phldrT="[Text]" custT="1"/>
      <dgm:spPr/>
      <dgm:t>
        <a:bodyPr/>
        <a:lstStyle/>
        <a:p>
          <a:pPr algn="l"/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Agents</a:t>
          </a:r>
        </a:p>
      </dgm:t>
    </dgm:pt>
    <dgm:pt modelId="{1E755A3D-66CE-4270-9D3A-0ACE28B5BC2B}" type="parTrans" cxnId="{DEDA1344-98C5-4082-B5C6-C7F0C4671A41}">
      <dgm:prSet/>
      <dgm:spPr/>
      <dgm:t>
        <a:bodyPr/>
        <a:lstStyle/>
        <a:p>
          <a:pPr algn="l"/>
          <a:endParaRPr lang="en-US"/>
        </a:p>
      </dgm:t>
    </dgm:pt>
    <dgm:pt modelId="{C5FF138B-A815-4E46-9A3F-EB142B9590B5}" type="sibTrans" cxnId="{DEDA1344-98C5-4082-B5C6-C7F0C4671A41}">
      <dgm:prSet/>
      <dgm:spPr/>
      <dgm:t>
        <a:bodyPr/>
        <a:lstStyle/>
        <a:p>
          <a:pPr algn="l"/>
          <a:endParaRPr lang="en-US"/>
        </a:p>
      </dgm:t>
    </dgm:pt>
    <dgm:pt modelId="{D2FDB389-615E-47A1-9345-065B6355BE20}">
      <dgm:prSet phldrT="[Text]" custT="1"/>
      <dgm:spPr/>
      <dgm:t>
        <a:bodyPr/>
        <a:lstStyle/>
        <a:p>
          <a:pPr algn="l"/>
          <a:r>
            <a:rPr lang="en-US" sz="1200">
              <a:latin typeface="Times New Roman" panose="02020603050405020304" pitchFamily="18" charset="0"/>
              <a:cs typeface="Times New Roman" panose="02020603050405020304" pitchFamily="18" charset="0"/>
            </a:rPr>
            <a:t>Agentic RAG</a:t>
          </a:r>
        </a:p>
      </dgm:t>
    </dgm:pt>
    <dgm:pt modelId="{4CAAA6E2-AE42-46BE-BFD4-5C52B57A761F}" type="parTrans" cxnId="{FE0B8D24-2C01-4D0B-B75F-79304C2EAA43}">
      <dgm:prSet/>
      <dgm:spPr/>
      <dgm:t>
        <a:bodyPr/>
        <a:lstStyle/>
        <a:p>
          <a:pPr algn="l"/>
          <a:endParaRPr lang="en-US"/>
        </a:p>
      </dgm:t>
    </dgm:pt>
    <dgm:pt modelId="{DA891EF7-35EA-45BB-BEDC-E07E6457FC8F}" type="sibTrans" cxnId="{FE0B8D24-2C01-4D0B-B75F-79304C2EAA43}">
      <dgm:prSet/>
      <dgm:spPr/>
      <dgm:t>
        <a:bodyPr/>
        <a:lstStyle/>
        <a:p>
          <a:pPr algn="l"/>
          <a:endParaRPr lang="en-US"/>
        </a:p>
      </dgm:t>
    </dgm:pt>
    <dgm:pt modelId="{2C3308DD-09FE-43B6-BC09-D85F9B79AB5E}">
      <dgm:prSet phldrT="[Text]" custT="1"/>
      <dgm:spPr/>
      <dgm:t>
        <a:bodyPr/>
        <a:lstStyle/>
        <a:p>
          <a:pPr algn="l"/>
          <a:r>
            <a:rPr lang="en-US" sz="12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+ SME Input</a:t>
          </a:r>
        </a:p>
      </dgm:t>
    </dgm:pt>
    <dgm:pt modelId="{700671E6-C7D5-4A2E-B595-14F534F5F64C}" type="parTrans" cxnId="{11A6C024-80D8-4AB2-AE68-B2D818A75E78}">
      <dgm:prSet/>
      <dgm:spPr/>
      <dgm:t>
        <a:bodyPr/>
        <a:lstStyle/>
        <a:p>
          <a:pPr algn="l"/>
          <a:endParaRPr lang="en-US"/>
        </a:p>
      </dgm:t>
    </dgm:pt>
    <dgm:pt modelId="{DF505BF6-80D2-414A-97D2-59CE3F0E2F55}" type="sibTrans" cxnId="{11A6C024-80D8-4AB2-AE68-B2D818A75E78}">
      <dgm:prSet/>
      <dgm:spPr/>
      <dgm:t>
        <a:bodyPr/>
        <a:lstStyle/>
        <a:p>
          <a:pPr algn="l"/>
          <a:endParaRPr lang="en-US"/>
        </a:p>
      </dgm:t>
    </dgm:pt>
    <dgm:pt modelId="{7E70B568-1DD7-478E-AC60-81EA0AC2D828}">
      <dgm:prSet phldrT="[Text]" custT="1"/>
      <dgm:spPr/>
      <dgm:t>
        <a:bodyPr/>
        <a:lstStyle/>
        <a:p>
          <a:pPr algn="l"/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Embeddings</a:t>
          </a:r>
        </a:p>
      </dgm:t>
    </dgm:pt>
    <dgm:pt modelId="{DE8BC572-4552-42B3-A21B-35614FF10146}" type="parTrans" cxnId="{5403ECD1-B1F7-46A0-8EA7-4BDAF3E8050C}">
      <dgm:prSet/>
      <dgm:spPr/>
      <dgm:t>
        <a:bodyPr/>
        <a:lstStyle/>
        <a:p>
          <a:endParaRPr lang="en-US"/>
        </a:p>
      </dgm:t>
    </dgm:pt>
    <dgm:pt modelId="{2B1EA2B2-89B0-4A92-A5E3-8ED019491865}" type="sibTrans" cxnId="{5403ECD1-B1F7-46A0-8EA7-4BDAF3E8050C}">
      <dgm:prSet/>
      <dgm:spPr/>
      <dgm:t>
        <a:bodyPr/>
        <a:lstStyle/>
        <a:p>
          <a:endParaRPr lang="en-US"/>
        </a:p>
      </dgm:t>
    </dgm:pt>
    <dgm:pt modelId="{D4116456-08FF-42AD-ABB2-FD64E7DB51A2}" type="pres">
      <dgm:prSet presAssocID="{A3C3ADA0-CA5E-4F83-BB3F-FA4C2C332BDE}" presName="Name0" presStyleCnt="0">
        <dgm:presLayoutVars>
          <dgm:dir/>
          <dgm:resizeHandles val="exact"/>
        </dgm:presLayoutVars>
      </dgm:prSet>
      <dgm:spPr/>
    </dgm:pt>
    <dgm:pt modelId="{841BA94E-4862-4517-9137-494F15FD5A9A}" type="pres">
      <dgm:prSet presAssocID="{6E4CF8A3-6313-4A1D-8655-0FB62AC8202C}" presName="node" presStyleLbl="node1" presStyleIdx="0" presStyleCnt="3">
        <dgm:presLayoutVars>
          <dgm:bulletEnabled val="1"/>
        </dgm:presLayoutVars>
      </dgm:prSet>
      <dgm:spPr/>
    </dgm:pt>
    <dgm:pt modelId="{19A23F84-215F-468D-88AB-9C6E4550FE18}" type="pres">
      <dgm:prSet presAssocID="{7558748C-A50E-4EBE-99F5-C7C25A0CE9FB}" presName="sibTrans" presStyleLbl="sibTrans2D1" presStyleIdx="0" presStyleCnt="2"/>
      <dgm:spPr/>
    </dgm:pt>
    <dgm:pt modelId="{5C361B3A-7E00-4B05-8588-C7B2C063ACB4}" type="pres">
      <dgm:prSet presAssocID="{7558748C-A50E-4EBE-99F5-C7C25A0CE9FB}" presName="connectorText" presStyleLbl="sibTrans2D1" presStyleIdx="0" presStyleCnt="2"/>
      <dgm:spPr/>
    </dgm:pt>
    <dgm:pt modelId="{1BD1F64B-F9CF-4067-B1BA-CB3152973EC7}" type="pres">
      <dgm:prSet presAssocID="{281D7BF4-28B3-4A11-A61D-C0A95C7236B4}" presName="node" presStyleLbl="node1" presStyleIdx="1" presStyleCnt="3">
        <dgm:presLayoutVars>
          <dgm:bulletEnabled val="1"/>
        </dgm:presLayoutVars>
      </dgm:prSet>
      <dgm:spPr/>
    </dgm:pt>
    <dgm:pt modelId="{69499DB7-CF8B-4B19-9038-EF73E4C58C83}" type="pres">
      <dgm:prSet presAssocID="{CD56B2CD-A549-4443-BCF4-4AC6E9CC4840}" presName="sibTrans" presStyleLbl="sibTrans2D1" presStyleIdx="1" presStyleCnt="2"/>
      <dgm:spPr/>
    </dgm:pt>
    <dgm:pt modelId="{4D1C8E25-224A-41E5-A13F-454B29378990}" type="pres">
      <dgm:prSet presAssocID="{CD56B2CD-A549-4443-BCF4-4AC6E9CC4840}" presName="connectorText" presStyleLbl="sibTrans2D1" presStyleIdx="1" presStyleCnt="2"/>
      <dgm:spPr/>
    </dgm:pt>
    <dgm:pt modelId="{B22987ED-41BF-4FCD-87B6-3F049FAE9E72}" type="pres">
      <dgm:prSet presAssocID="{A875B59F-6EA0-4BA5-994D-5EE439740ED7}" presName="node" presStyleLbl="node1" presStyleIdx="2" presStyleCnt="3">
        <dgm:presLayoutVars>
          <dgm:bulletEnabled val="1"/>
        </dgm:presLayoutVars>
      </dgm:prSet>
      <dgm:spPr/>
    </dgm:pt>
  </dgm:ptLst>
  <dgm:cxnLst>
    <dgm:cxn modelId="{0F71F903-56DE-43E2-BA1B-26C283793444}" srcId="{281D7BF4-28B3-4A11-A61D-C0A95C7236B4}" destId="{B2E150BF-618F-43B7-9F61-BA5A479B029B}" srcOrd="2" destOrd="0" parTransId="{258796EE-261A-4012-A386-B99D3811EE5B}" sibTransId="{B7B1B672-EBE7-48C9-B68B-49C81ADC61EB}"/>
    <dgm:cxn modelId="{A49CA108-884B-41B2-BCDF-6D3DC500A7B0}" srcId="{A875B59F-6EA0-4BA5-994D-5EE439740ED7}" destId="{1B7A8ADC-C162-450F-BD1D-DEE7E83A5DF2}" srcOrd="0" destOrd="0" parTransId="{57B3363A-3530-40AA-A416-3EDC10AEFE63}" sibTransId="{B0876C2E-8AB2-4728-A81C-CF7F708D780E}"/>
    <dgm:cxn modelId="{996F8212-E9DC-464B-832A-CEA09ABAF949}" srcId="{A3C3ADA0-CA5E-4F83-BB3F-FA4C2C332BDE}" destId="{A875B59F-6EA0-4BA5-994D-5EE439740ED7}" srcOrd="2" destOrd="0" parTransId="{73781A50-55BF-458F-AB16-6D3C86D7D192}" sibTransId="{FA39FEED-3AAD-4F8F-940B-1779B7D93DCB}"/>
    <dgm:cxn modelId="{B63B6614-7E09-4338-83C3-0E8D9C8D2CF0}" type="presOf" srcId="{7558748C-A50E-4EBE-99F5-C7C25A0CE9FB}" destId="{19A23F84-215F-468D-88AB-9C6E4550FE18}" srcOrd="0" destOrd="0" presId="urn:microsoft.com/office/officeart/2005/8/layout/process1"/>
    <dgm:cxn modelId="{79B6241E-AA61-4A6C-98FB-1C57454A8BC0}" type="presOf" srcId="{2C3308DD-09FE-43B6-BC09-D85F9B79AB5E}" destId="{1BD1F64B-F9CF-4067-B1BA-CB3152973EC7}" srcOrd="0" destOrd="7" presId="urn:microsoft.com/office/officeart/2005/8/layout/process1"/>
    <dgm:cxn modelId="{FE0B8D24-2C01-4D0B-B75F-79304C2EAA43}" srcId="{281D7BF4-28B3-4A11-A61D-C0A95C7236B4}" destId="{D2FDB389-615E-47A1-9345-065B6355BE20}" srcOrd="5" destOrd="0" parTransId="{4CAAA6E2-AE42-46BE-BFD4-5C52B57A761F}" sibTransId="{DA891EF7-35EA-45BB-BEDC-E07E6457FC8F}"/>
    <dgm:cxn modelId="{11A6C024-80D8-4AB2-AE68-B2D818A75E78}" srcId="{281D7BF4-28B3-4A11-A61D-C0A95C7236B4}" destId="{2C3308DD-09FE-43B6-BC09-D85F9B79AB5E}" srcOrd="6" destOrd="0" parTransId="{700671E6-C7D5-4A2E-B595-14F534F5F64C}" sibTransId="{DF505BF6-80D2-414A-97D2-59CE3F0E2F55}"/>
    <dgm:cxn modelId="{11F7753D-738A-403F-B4AA-40CBDEABBC95}" srcId="{6E4CF8A3-6313-4A1D-8655-0FB62AC8202C}" destId="{FC16CD58-6A66-4793-81E7-FA176DFFB6BC}" srcOrd="0" destOrd="0" parTransId="{FCCA9159-394F-4666-B2A6-AC106A216CAA}" sibTransId="{04A8467C-F175-4FD8-A266-EABD10817A38}"/>
    <dgm:cxn modelId="{CEF7EE3E-D231-4108-9DF3-3ADF1369BC74}" type="presOf" srcId="{A875B59F-6EA0-4BA5-994D-5EE439740ED7}" destId="{B22987ED-41BF-4FCD-87B6-3F049FAE9E72}" srcOrd="0" destOrd="0" presId="urn:microsoft.com/office/officeart/2005/8/layout/process1"/>
    <dgm:cxn modelId="{63747D5D-1042-4C64-867D-336A20415A86}" type="presOf" srcId="{69366852-CD1D-431C-B7F8-AE954A9E75EE}" destId="{1BD1F64B-F9CF-4067-B1BA-CB3152973EC7}" srcOrd="0" destOrd="5" presId="urn:microsoft.com/office/officeart/2005/8/layout/process1"/>
    <dgm:cxn modelId="{DEDA1344-98C5-4082-B5C6-C7F0C4671A41}" srcId="{281D7BF4-28B3-4A11-A61D-C0A95C7236B4}" destId="{69366852-CD1D-431C-B7F8-AE954A9E75EE}" srcOrd="4" destOrd="0" parTransId="{1E755A3D-66CE-4270-9D3A-0ACE28B5BC2B}" sibTransId="{C5FF138B-A815-4E46-9A3F-EB142B9590B5}"/>
    <dgm:cxn modelId="{40096946-2279-4EA9-B0B2-EC738764FE49}" type="presOf" srcId="{FC16CD58-6A66-4793-81E7-FA176DFFB6BC}" destId="{841BA94E-4862-4517-9137-494F15FD5A9A}" srcOrd="0" destOrd="1" presId="urn:microsoft.com/office/officeart/2005/8/layout/process1"/>
    <dgm:cxn modelId="{9376DB6E-8BB4-4E43-AB92-09314798B7EE}" type="presOf" srcId="{281D7BF4-28B3-4A11-A61D-C0A95C7236B4}" destId="{1BD1F64B-F9CF-4067-B1BA-CB3152973EC7}" srcOrd="0" destOrd="0" presId="urn:microsoft.com/office/officeart/2005/8/layout/process1"/>
    <dgm:cxn modelId="{6B580C4F-8FA6-41C7-A858-0A51E8904318}" srcId="{6E4CF8A3-6313-4A1D-8655-0FB62AC8202C}" destId="{1BD44C50-A9D7-4D35-B279-C1022431BE77}" srcOrd="2" destOrd="0" parTransId="{8DA5FA04-CC0C-4894-B17D-395C4A3D20B2}" sibTransId="{4B553BB7-372D-4D65-92E7-FC7212971078}"/>
    <dgm:cxn modelId="{628E7258-84A3-4055-B5C2-EFD6A94B858E}" type="presOf" srcId="{1B7A8ADC-C162-450F-BD1D-DEE7E83A5DF2}" destId="{B22987ED-41BF-4FCD-87B6-3F049FAE9E72}" srcOrd="0" destOrd="1" presId="urn:microsoft.com/office/officeart/2005/8/layout/process1"/>
    <dgm:cxn modelId="{1BEDB87B-ECF0-4E15-96C8-F0419F04B3C4}" type="presOf" srcId="{CD56B2CD-A549-4443-BCF4-4AC6E9CC4840}" destId="{69499DB7-CF8B-4B19-9038-EF73E4C58C83}" srcOrd="0" destOrd="0" presId="urn:microsoft.com/office/officeart/2005/8/layout/process1"/>
    <dgm:cxn modelId="{CB3CA185-95CC-497F-8C24-A40A86AC1E35}" srcId="{A3C3ADA0-CA5E-4F83-BB3F-FA4C2C332BDE}" destId="{6E4CF8A3-6313-4A1D-8655-0FB62AC8202C}" srcOrd="0" destOrd="0" parTransId="{832F93AE-02C7-4CF4-995A-5F1B4E05C243}" sibTransId="{7558748C-A50E-4EBE-99F5-C7C25A0CE9FB}"/>
    <dgm:cxn modelId="{F989268E-50D7-4878-93AB-D12F9AF87FC2}" type="presOf" srcId="{6E4CF8A3-6313-4A1D-8655-0FB62AC8202C}" destId="{841BA94E-4862-4517-9137-494F15FD5A9A}" srcOrd="0" destOrd="0" presId="urn:microsoft.com/office/officeart/2005/8/layout/process1"/>
    <dgm:cxn modelId="{67039094-5101-41C8-A378-7EE6DC6DBD27}" type="presOf" srcId="{2926AA99-8AEB-4261-966B-53FAF8289D24}" destId="{841BA94E-4862-4517-9137-494F15FD5A9A}" srcOrd="0" destOrd="2" presId="urn:microsoft.com/office/officeart/2005/8/layout/process1"/>
    <dgm:cxn modelId="{F08FB1AB-8658-4260-8109-26AF7055C726}" srcId="{281D7BF4-28B3-4A11-A61D-C0A95C7236B4}" destId="{ED619CD2-34F9-4A43-99D3-EB82E961F10D}" srcOrd="0" destOrd="0" parTransId="{81FA6092-DF30-4225-B5EB-E789367423CD}" sibTransId="{953426A3-5D9A-47B5-B8FE-266C166A7A11}"/>
    <dgm:cxn modelId="{83D2FEB0-E5C0-4259-AA21-2B6E769D0ED8}" type="presOf" srcId="{7558748C-A50E-4EBE-99F5-C7C25A0CE9FB}" destId="{5C361B3A-7E00-4B05-8588-C7B2C063ACB4}" srcOrd="1" destOrd="0" presId="urn:microsoft.com/office/officeart/2005/8/layout/process1"/>
    <dgm:cxn modelId="{5922EBB5-DAA7-4614-89DD-98282CF92B3C}" type="presOf" srcId="{A3C3ADA0-CA5E-4F83-BB3F-FA4C2C332BDE}" destId="{D4116456-08FF-42AD-ABB2-FD64E7DB51A2}" srcOrd="0" destOrd="0" presId="urn:microsoft.com/office/officeart/2005/8/layout/process1"/>
    <dgm:cxn modelId="{E2337CC4-FDEB-4987-AEF2-1FE3729C2C84}" type="presOf" srcId="{CD56B2CD-A549-4443-BCF4-4AC6E9CC4840}" destId="{4D1C8E25-224A-41E5-A13F-454B29378990}" srcOrd="1" destOrd="0" presId="urn:microsoft.com/office/officeart/2005/8/layout/process1"/>
    <dgm:cxn modelId="{7A919BC5-7872-43ED-BD25-55C33003E5FF}" type="presOf" srcId="{1BD44C50-A9D7-4D35-B279-C1022431BE77}" destId="{841BA94E-4862-4517-9137-494F15FD5A9A}" srcOrd="0" destOrd="3" presId="urn:microsoft.com/office/officeart/2005/8/layout/process1"/>
    <dgm:cxn modelId="{E67E7DCB-4E9A-4BAC-98EF-F2585FCA3B04}" srcId="{281D7BF4-28B3-4A11-A61D-C0A95C7236B4}" destId="{B2D46A6B-FEE9-4EAE-9915-3165E055B13A}" srcOrd="3" destOrd="0" parTransId="{0C2226E2-9634-405A-ABB9-08DF3E0DB3A6}" sibTransId="{185E1DAE-AE8F-43D2-9D6D-43F936DA5E14}"/>
    <dgm:cxn modelId="{F0EEC4D1-1947-44A6-AE59-CA111FAE7D60}" srcId="{A3C3ADA0-CA5E-4F83-BB3F-FA4C2C332BDE}" destId="{281D7BF4-28B3-4A11-A61D-C0A95C7236B4}" srcOrd="1" destOrd="0" parTransId="{06AF41D0-0684-49BC-AD94-2938F3C0827F}" sibTransId="{CD56B2CD-A549-4443-BCF4-4AC6E9CC4840}"/>
    <dgm:cxn modelId="{5403ECD1-B1F7-46A0-8EA7-4BDAF3E8050C}" srcId="{281D7BF4-28B3-4A11-A61D-C0A95C7236B4}" destId="{7E70B568-1DD7-478E-AC60-81EA0AC2D828}" srcOrd="1" destOrd="0" parTransId="{DE8BC572-4552-42B3-A21B-35614FF10146}" sibTransId="{2B1EA2B2-89B0-4A92-A5E3-8ED019491865}"/>
    <dgm:cxn modelId="{D4E19AD6-DE11-432C-8F5C-80FE17DF5C7B}" srcId="{6E4CF8A3-6313-4A1D-8655-0FB62AC8202C}" destId="{2926AA99-8AEB-4261-966B-53FAF8289D24}" srcOrd="1" destOrd="0" parTransId="{4A33912C-7C1C-41F0-BBCD-D132DCBC24C1}" sibTransId="{4763EC08-B342-4B0C-A569-FF02692F2106}"/>
    <dgm:cxn modelId="{3146AADB-7B84-45D5-925A-B26EB51AF895}" type="presOf" srcId="{B2D46A6B-FEE9-4EAE-9915-3165E055B13A}" destId="{1BD1F64B-F9CF-4067-B1BA-CB3152973EC7}" srcOrd="0" destOrd="4" presId="urn:microsoft.com/office/officeart/2005/8/layout/process1"/>
    <dgm:cxn modelId="{C6B1B5E3-A99A-48C8-A149-63D0002A204B}" type="presOf" srcId="{B2E150BF-618F-43B7-9F61-BA5A479B029B}" destId="{1BD1F64B-F9CF-4067-B1BA-CB3152973EC7}" srcOrd="0" destOrd="3" presId="urn:microsoft.com/office/officeart/2005/8/layout/process1"/>
    <dgm:cxn modelId="{1AF0DFE7-05B6-494C-B20B-262815A9D925}" type="presOf" srcId="{D2FDB389-615E-47A1-9345-065B6355BE20}" destId="{1BD1F64B-F9CF-4067-B1BA-CB3152973EC7}" srcOrd="0" destOrd="6" presId="urn:microsoft.com/office/officeart/2005/8/layout/process1"/>
    <dgm:cxn modelId="{9B785AE8-1668-4036-AFFD-7B84546E79CF}" type="presOf" srcId="{7E70B568-1DD7-478E-AC60-81EA0AC2D828}" destId="{1BD1F64B-F9CF-4067-B1BA-CB3152973EC7}" srcOrd="0" destOrd="2" presId="urn:microsoft.com/office/officeart/2005/8/layout/process1"/>
    <dgm:cxn modelId="{B9CD75F5-0451-4186-880F-4D19576EE21F}" type="presOf" srcId="{ED619CD2-34F9-4A43-99D3-EB82E961F10D}" destId="{1BD1F64B-F9CF-4067-B1BA-CB3152973EC7}" srcOrd="0" destOrd="1" presId="urn:microsoft.com/office/officeart/2005/8/layout/process1"/>
    <dgm:cxn modelId="{4AE005C3-C4F5-46CE-B63C-FA7C0DC393DE}" type="presParOf" srcId="{D4116456-08FF-42AD-ABB2-FD64E7DB51A2}" destId="{841BA94E-4862-4517-9137-494F15FD5A9A}" srcOrd="0" destOrd="0" presId="urn:microsoft.com/office/officeart/2005/8/layout/process1"/>
    <dgm:cxn modelId="{5720526B-EAE1-4085-A9AB-253C8D6EFD8D}" type="presParOf" srcId="{D4116456-08FF-42AD-ABB2-FD64E7DB51A2}" destId="{19A23F84-215F-468D-88AB-9C6E4550FE18}" srcOrd="1" destOrd="0" presId="urn:microsoft.com/office/officeart/2005/8/layout/process1"/>
    <dgm:cxn modelId="{4E75891D-6FC1-4C8A-9F72-BDDA8C08A2EA}" type="presParOf" srcId="{19A23F84-215F-468D-88AB-9C6E4550FE18}" destId="{5C361B3A-7E00-4B05-8588-C7B2C063ACB4}" srcOrd="0" destOrd="0" presId="urn:microsoft.com/office/officeart/2005/8/layout/process1"/>
    <dgm:cxn modelId="{8D50BC5A-E71B-4667-BA62-790EDA89EB9B}" type="presParOf" srcId="{D4116456-08FF-42AD-ABB2-FD64E7DB51A2}" destId="{1BD1F64B-F9CF-4067-B1BA-CB3152973EC7}" srcOrd="2" destOrd="0" presId="urn:microsoft.com/office/officeart/2005/8/layout/process1"/>
    <dgm:cxn modelId="{CBEE4156-6910-49F4-ABA5-C14A66A453AD}" type="presParOf" srcId="{D4116456-08FF-42AD-ABB2-FD64E7DB51A2}" destId="{69499DB7-CF8B-4B19-9038-EF73E4C58C83}" srcOrd="3" destOrd="0" presId="urn:microsoft.com/office/officeart/2005/8/layout/process1"/>
    <dgm:cxn modelId="{15320E68-F050-4354-AA7B-132201F998F7}" type="presParOf" srcId="{69499DB7-CF8B-4B19-9038-EF73E4C58C83}" destId="{4D1C8E25-224A-41E5-A13F-454B29378990}" srcOrd="0" destOrd="0" presId="urn:microsoft.com/office/officeart/2005/8/layout/process1"/>
    <dgm:cxn modelId="{B9B8D9A9-7A78-4592-B884-F5D26F0C31CF}" type="presParOf" srcId="{D4116456-08FF-42AD-ABB2-FD64E7DB51A2}" destId="{B22987ED-41BF-4FCD-87B6-3F049FAE9E7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BA94E-4862-4517-9137-494F15FD5A9A}">
      <dsp:nvSpPr>
        <dsp:cNvPr id="0" name=""/>
        <dsp:cNvSpPr/>
      </dsp:nvSpPr>
      <dsp:spPr>
        <a:xfrm>
          <a:off x="6148" y="121088"/>
          <a:ext cx="1837635" cy="2276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F204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LLM Cognitive Model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Blueprint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SME's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SME+Blueprint</a:t>
          </a:r>
        </a:p>
      </dsp:txBody>
      <dsp:txXfrm>
        <a:off x="59970" y="174910"/>
        <a:ext cx="1729991" cy="2169121"/>
      </dsp:txXfrm>
    </dsp:sp>
    <dsp:sp modelId="{19A23F84-215F-468D-88AB-9C6E4550FE18}">
      <dsp:nvSpPr>
        <dsp:cNvPr id="0" name=""/>
        <dsp:cNvSpPr/>
      </dsp:nvSpPr>
      <dsp:spPr>
        <a:xfrm>
          <a:off x="2027547" y="1031604"/>
          <a:ext cx="389578" cy="4557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27547" y="1122751"/>
        <a:ext cx="272705" cy="273439"/>
      </dsp:txXfrm>
    </dsp:sp>
    <dsp:sp modelId="{1BD1F64B-F9CF-4067-B1BA-CB3152973EC7}">
      <dsp:nvSpPr>
        <dsp:cNvPr id="0" name=""/>
        <dsp:cNvSpPr/>
      </dsp:nvSpPr>
      <dsp:spPr>
        <a:xfrm>
          <a:off x="2578838" y="121088"/>
          <a:ext cx="1837635" cy="2276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Choose Model Architecture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Prompt Engineering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Embeddings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Fine-Tuning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RAG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Agents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Agentic RAG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+ SME Input</a:t>
          </a:r>
        </a:p>
      </dsp:txBody>
      <dsp:txXfrm>
        <a:off x="2632660" y="174910"/>
        <a:ext cx="1729991" cy="2169121"/>
      </dsp:txXfrm>
    </dsp:sp>
    <dsp:sp modelId="{69499DB7-CF8B-4B19-9038-EF73E4C58C83}">
      <dsp:nvSpPr>
        <dsp:cNvPr id="0" name=""/>
        <dsp:cNvSpPr/>
      </dsp:nvSpPr>
      <dsp:spPr>
        <a:xfrm>
          <a:off x="4600237" y="1031604"/>
          <a:ext cx="389578" cy="4557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00237" y="1122751"/>
        <a:ext cx="272705" cy="273439"/>
      </dsp:txXfrm>
    </dsp:sp>
    <dsp:sp modelId="{B22987ED-41BF-4FCD-87B6-3F049FAE9E72}">
      <dsp:nvSpPr>
        <dsp:cNvPr id="0" name=""/>
        <dsp:cNvSpPr/>
      </dsp:nvSpPr>
      <dsp:spPr>
        <a:xfrm>
          <a:off x="5151528" y="121088"/>
          <a:ext cx="1837635" cy="2276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Generate Test Items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SME</a:t>
          </a:r>
        </a:p>
      </dsp:txBody>
      <dsp:txXfrm>
        <a:off x="5205350" y="174910"/>
        <a:ext cx="1729991" cy="2169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76F1D-8B2F-4036-B296-1ADAE407B05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DA57E-F90E-4055-B20A-0A1339E9E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4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002db4c4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c002db4c4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9c002db4c4_3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Newer methodologies are emerging machine learning, deep learning, automated scoring, automated feedback but the focus of this study is on 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generation.</a:t>
            </a:r>
            <a:b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AIG) offers a host of advantages across cost, psychometric quality, security, scalability, and content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Cognitive models provide explicit representations of task requirements and problem-solving processes that examinees must employ when responding to assessment items (Leighton &amp; Gierl, 2007).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prose-based AIG approach involves transforming key sentences from well-written prose into test questions, particularly WH-questions that seek content information. (Bormuth, 1970);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facet framework emphasized the importance of operationally defining test content domains and systematically varying specific facets to generate item families Guttman, 1953, 1959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Markle and Tiemann's (1970) framework provided systematic methods for analyzing concepts and rapidly producing test items that measured different levels of conceptual mastery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development of item forms by Hively (1974) advanced the field by introducing fixed syntactic structures that could accommodate systematic content variation.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4730B-3FD2-404D-9BE1-59C5AB8B29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54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hinge of the foundations section. If they take one sentence away, make it the last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067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7C95-C7DE-0918-FA42-1CC8311C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F4702-4E4E-F157-5D6C-45A7BFDE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CA7A7-2709-8777-883A-11916C20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C3252-A6BE-8639-8816-4C83EBAD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F25E83C-547A-4992-B5BC-771869A786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92F429-3D6D-C4D9-F799-B7C215D9681F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7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32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7567" y="6126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69F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DE10-59D2-68DF-C138-4F650759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FD051-2F96-8241-682D-66BAB656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BF0A3-6125-3882-248E-EE3972B8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BAAA-02BD-4343-823E-B0A0449FBC9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A06A-DDB2-B0A5-7861-8503B889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B10C8-006D-1170-A964-2A277074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E72E-8920-4865-A2B6-083D35D0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8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8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1" r:id="rId2"/>
    <p:sldLayoutId id="2147483742" r:id="rId3"/>
    <p:sldLayoutId id="2147483743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7567" y="6126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69F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0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academy.langchain.com/" TargetMode="External"/><Relationship Id="rId3" Type="http://schemas.openxmlformats.org/officeDocument/2006/relationships/hyperlink" Target="https://docs.langchain.com/oss/python/langchain/overview" TargetMode="External"/><Relationship Id="rId7" Type="http://schemas.openxmlformats.org/officeDocument/2006/relationships/hyperlink" Target="https://docs.langchain.com/oss/python/migrate/langchain-v1" TargetMode="External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langchain.com/oss/python/langchain/streaming" TargetMode="External"/><Relationship Id="rId5" Type="http://schemas.openxmlformats.org/officeDocument/2006/relationships/hyperlink" Target="https://docs.langchain.com/oss/python/langchain/middleware/overview" TargetMode="External"/><Relationship Id="rId4" Type="http://schemas.openxmlformats.org/officeDocument/2006/relationships/hyperlink" Target="https://docs.langchain.com/oss/python/langchain/short-term-mem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413FF-5C94-28D2-3FB5-95DDD3DA2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920" y="213360"/>
            <a:ext cx="9337040" cy="1724231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for Item Development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Hands-On Workshop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0FC28-7CF1-7FA5-55F3-39BF7D8B3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9809" y="5853241"/>
            <a:ext cx="6572382" cy="720279"/>
          </a:xfrm>
        </p:spPr>
        <p:txBody>
          <a:bodyPr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AIME-Con 2026 | October 5–7 | Pittsburgh</a:t>
            </a:r>
          </a:p>
          <a:p>
            <a:pPr>
              <a:lnSpc>
                <a:spcPct val="110000"/>
              </a:lnSpc>
            </a:pP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1:00pm – 5:00pm</a:t>
            </a:r>
          </a:p>
          <a:p>
            <a:pPr>
              <a:lnSpc>
                <a:spcPct val="110000"/>
              </a:lnSpc>
            </a:pP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C8EC4-1B96-4BAA-EF8A-BBB35A8E2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09" y="2091150"/>
            <a:ext cx="6572382" cy="30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6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285667" y="118533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881280" y="114976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080963" y="118533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279419" y="275740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121" name="Google Shape;121;p2"/>
          <p:cNvSpPr txBox="1">
            <a:spLocks noGrp="1"/>
          </p:cNvSpPr>
          <p:nvPr>
            <p:ph type="title"/>
          </p:nvPr>
        </p:nvSpPr>
        <p:spPr>
          <a:xfrm>
            <a:off x="420325" y="363489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Us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" name="Google Shape;122;p2"/>
          <p:cNvGraphicFramePr/>
          <p:nvPr>
            <p:extLst>
              <p:ext uri="{D42A27DB-BD31-4B8C-83A1-F6EECF244321}">
                <p14:modId xmlns:p14="http://schemas.microsoft.com/office/powerpoint/2010/main" val="3878614584"/>
              </p:ext>
            </p:extLst>
          </p:nvPr>
        </p:nvGraphicFramePr>
        <p:xfrm>
          <a:off x="645083" y="1698208"/>
          <a:ext cx="102870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Henry Sanmi Makinde, Ph.D.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Hope Adegoke</a:t>
                      </a:r>
                      <a:endParaRPr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Mubarak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Mojoyinola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Ph.D.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" name="Google Shape;123;p2"/>
          <p:cNvGraphicFramePr/>
          <p:nvPr>
            <p:extLst>
              <p:ext uri="{D42A27DB-BD31-4B8C-83A1-F6EECF244321}">
                <p14:modId xmlns:p14="http://schemas.microsoft.com/office/powerpoint/2010/main" val="3592523386"/>
              </p:ext>
            </p:extLst>
          </p:nvPr>
        </p:nvGraphicFramePr>
        <p:xfrm>
          <a:off x="789121" y="5605933"/>
          <a:ext cx="10287000" cy="944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 Scientist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 Education Association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PhD Student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of North Carolina, Greensboro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Psychometrician</a:t>
                      </a:r>
                      <a:endParaRPr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of Iowa, Iowa City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4" name="Google Shape;124;p2" title="Pi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871" y="2155378"/>
            <a:ext cx="2810761" cy="345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title="CA3B302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6644" y="2155376"/>
            <a:ext cx="2636216" cy="3450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 title="nano-banana-2025-10-22T03-25-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5358" y="2155374"/>
            <a:ext cx="3027309" cy="3450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84FBB5-70B7-4705-E780-AC7A3CB3C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461" y="6153766"/>
            <a:ext cx="1123580" cy="340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2367A3-C2C7-BFCD-5578-80E1F55F2D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7066" y="6184176"/>
            <a:ext cx="1058752" cy="340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8DC664-8DB2-5307-A449-5E517A7ECB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2738" y="6184176"/>
            <a:ext cx="880761" cy="367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c002db4c4_3_1"/>
          <p:cNvSpPr txBox="1">
            <a:spLocks noGrp="1"/>
          </p:cNvSpPr>
          <p:nvPr>
            <p:ph type="title"/>
          </p:nvPr>
        </p:nvSpPr>
        <p:spPr>
          <a:xfrm>
            <a:off x="581200" y="705125"/>
            <a:ext cx="11029500" cy="520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g39c002db4c4_3_1"/>
          <p:cNvSpPr txBox="1">
            <a:spLocks noGrp="1"/>
          </p:cNvSpPr>
          <p:nvPr>
            <p:ph type="body" idx="1"/>
          </p:nvPr>
        </p:nvSpPr>
        <p:spPr>
          <a:xfrm>
            <a:off x="790525" y="1495225"/>
            <a:ext cx="6216900" cy="471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3444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56"/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Generative AI and Item Generation</a:t>
            </a:r>
          </a:p>
          <a:p>
            <a:pPr marL="45720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AIG</a:t>
            </a:r>
          </a:p>
          <a:p>
            <a:pPr marL="45720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Langchain</a:t>
            </a:r>
          </a:p>
          <a:p>
            <a:pPr marL="45720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444" indent="0">
              <a:spcBef>
                <a:spcPts val="600"/>
              </a:spcBef>
              <a:buClr>
                <a:schemeClr val="dk1"/>
              </a:buClr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3756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3756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3756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3756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56"/>
              <a:buChar char="❏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Agents and Evaluation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8721-91BC-AEA0-CB72-B6F43B962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CCC20-6E87-4D80-27A0-54F0B1B6E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195;p8">
            <a:extLst>
              <a:ext uri="{FF2B5EF4-FFF2-40B4-BE49-F238E27FC236}">
                <a16:creationId xmlns:a16="http://schemas.microsoft.com/office/drawing/2014/main" id="{DFAC77D8-5409-4C79-9165-4531948DFBC6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" name="Google Shape;196;p8">
            <a:extLst>
              <a:ext uri="{FF2B5EF4-FFF2-40B4-BE49-F238E27FC236}">
                <a16:creationId xmlns:a16="http://schemas.microsoft.com/office/drawing/2014/main" id="{BBF9896C-B7CD-6C78-E2AE-99F1AB104E53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" name="Google Shape;197;p8">
            <a:extLst>
              <a:ext uri="{FF2B5EF4-FFF2-40B4-BE49-F238E27FC236}">
                <a16:creationId xmlns:a16="http://schemas.microsoft.com/office/drawing/2014/main" id="{C4CCBD2C-6785-9B4D-3EB9-6512243BBF22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198;p8">
            <a:extLst>
              <a:ext uri="{FF2B5EF4-FFF2-40B4-BE49-F238E27FC236}">
                <a16:creationId xmlns:a16="http://schemas.microsoft.com/office/drawing/2014/main" id="{63E3AED2-2837-6474-C262-C230344AAFB7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Google Shape;199;p8">
            <a:extLst>
              <a:ext uri="{FF2B5EF4-FFF2-40B4-BE49-F238E27FC236}">
                <a16:creationId xmlns:a16="http://schemas.microsoft.com/office/drawing/2014/main" id="{3C844898-846E-B409-58F0-3BFB6E7594FA}"/>
              </a:ext>
            </a:extLst>
          </p:cNvPr>
          <p:cNvSpPr/>
          <p:nvPr/>
        </p:nvSpPr>
        <p:spPr>
          <a:xfrm>
            <a:off x="0" y="-2540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200;p8">
            <a:extLst>
              <a:ext uri="{FF2B5EF4-FFF2-40B4-BE49-F238E27FC236}">
                <a16:creationId xmlns:a16="http://schemas.microsoft.com/office/drawing/2014/main" id="{4D90268F-7452-96E6-893B-E984B68D627C}"/>
              </a:ext>
            </a:extLst>
          </p:cNvPr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Google Shape;201;p8">
            <a:extLst>
              <a:ext uri="{FF2B5EF4-FFF2-40B4-BE49-F238E27FC236}">
                <a16:creationId xmlns:a16="http://schemas.microsoft.com/office/drawing/2014/main" id="{E83641DF-0B41-D692-09B0-1675B198FB1C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1013800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rmAutofit lnSpcReduction="1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algn="ctr">
              <a:buClr>
                <a:srgbClr val="FFFFFF"/>
              </a:buClr>
              <a:buSzPts val="2800"/>
              <a:buFont typeface="Gill Sans"/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Artificial Intelligence in Ed Measurement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oogle Shape;202;p8">
            <a:extLst>
              <a:ext uri="{FF2B5EF4-FFF2-40B4-BE49-F238E27FC236}">
                <a16:creationId xmlns:a16="http://schemas.microsoft.com/office/drawing/2014/main" id="{00FA9E77-51AD-1028-EA39-4769044A8B3E}"/>
              </a:ext>
            </a:extLst>
          </p:cNvPr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2" name="Google Shape;203;p8">
              <a:extLst>
                <a:ext uri="{FF2B5EF4-FFF2-40B4-BE49-F238E27FC236}">
                  <a16:creationId xmlns:a16="http://schemas.microsoft.com/office/drawing/2014/main" id="{7ABE5708-075F-CDAD-CE64-5B9F3A3B39FF}"/>
                </a:ext>
              </a:extLst>
            </p:cNvPr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" name="Google Shape;204;p8">
              <a:extLst>
                <a:ext uri="{FF2B5EF4-FFF2-40B4-BE49-F238E27FC236}">
                  <a16:creationId xmlns:a16="http://schemas.microsoft.com/office/drawing/2014/main" id="{AAAFA676-639D-F518-EB43-93B556FDB3DD}"/>
                </a:ext>
              </a:extLst>
            </p:cNvPr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" name="Google Shape;205;p8">
              <a:extLst>
                <a:ext uri="{FF2B5EF4-FFF2-40B4-BE49-F238E27FC236}">
                  <a16:creationId xmlns:a16="http://schemas.microsoft.com/office/drawing/2014/main" id="{EF2E9534-20DD-6EE3-329B-E753CBA57551}"/>
                </a:ext>
              </a:extLst>
            </p:cNvPr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" name="Google Shape;206;p8">
            <a:extLst>
              <a:ext uri="{FF2B5EF4-FFF2-40B4-BE49-F238E27FC236}">
                <a16:creationId xmlns:a16="http://schemas.microsoft.com/office/drawing/2014/main" id="{0F190EB5-E455-2E7A-7587-E812ACE2A486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11029615" cy="6304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85000" lnSpcReduction="20000"/>
          </a:bodyPr>
          <a:lstStyle>
            <a:lvl1pPr marL="457200" lvl="0" indent="-333756" algn="l" defTabSz="914400" rtl="0" eaLnBrk="1" latinLnBrk="0" hangingPunct="1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33756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33756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33756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33756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33756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33756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33756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Arial" panose="020B0604020202020204" pitchFamily="34" charset="0"/>
              <a:buChar char="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33756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656"/>
              <a:buFont typeface="Arial" panose="020B0604020202020204" pitchFamily="34" charset="0"/>
              <a:buChar char="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talk about application of AI in Ed measurement, we imply Machine learning, Deep learning, and Large language models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267497-E0A3-1FAD-283A-2EA2893BA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373256"/>
              </p:ext>
            </p:extLst>
          </p:nvPr>
        </p:nvGraphicFramePr>
        <p:xfrm>
          <a:off x="1083733" y="2914975"/>
          <a:ext cx="10433136" cy="3326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1834">
                  <a:extLst>
                    <a:ext uri="{9D8B030D-6E8A-4147-A177-3AD203B41FA5}">
                      <a16:colId xmlns:a16="http://schemas.microsoft.com/office/drawing/2014/main" val="3826390400"/>
                    </a:ext>
                  </a:extLst>
                </a:gridCol>
                <a:gridCol w="3406935">
                  <a:extLst>
                    <a:ext uri="{9D8B030D-6E8A-4147-A177-3AD203B41FA5}">
                      <a16:colId xmlns:a16="http://schemas.microsoft.com/office/drawing/2014/main" val="1509634449"/>
                    </a:ext>
                  </a:extLst>
                </a:gridCol>
                <a:gridCol w="2924367">
                  <a:extLst>
                    <a:ext uri="{9D8B030D-6E8A-4147-A177-3AD203B41FA5}">
                      <a16:colId xmlns:a16="http://schemas.microsoft.com/office/drawing/2014/main" val="2630381540"/>
                    </a:ext>
                  </a:extLst>
                </a:gridCol>
              </a:tblGrid>
              <a:tr h="427769">
                <a:tc gridSpan="3"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Applications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954611"/>
                  </a:ext>
                </a:extLst>
              </a:tr>
              <a:tr h="56873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Student 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Aberrant Responses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Cheating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923959"/>
                  </a:ext>
                </a:extLst>
              </a:tr>
              <a:tr h="42776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Item Difficulty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Identifying Learning Strategies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Enemy Item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73849"/>
                  </a:ext>
                </a:extLst>
              </a:tr>
              <a:tr h="5511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Generating Essay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Generation for Predictive models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Item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907401"/>
                  </a:ext>
                </a:extLst>
              </a:tr>
              <a:tr h="45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redicting student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744129"/>
                  </a:ext>
                </a:extLst>
              </a:tr>
              <a:tr h="81247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Feedback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Embeddings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Tutors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08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75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rgbClr val="169C9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156960"/>
            <a:ext cx="12192000" cy="48768"/>
          </a:xfrm>
          <a:prstGeom prst="rect">
            <a:avLst/>
          </a:prstGeom>
          <a:solidFill>
            <a:srgbClr val="FFB71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0" y="6278880"/>
            <a:ext cx="975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0F2044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Introduction</a:t>
            </a:r>
            <a:endParaRPr lang="en-US" sz="3467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072896"/>
            <a:ext cx="1463040" cy="48768"/>
          </a:xfrm>
          <a:prstGeom prst="rect">
            <a:avLst/>
          </a:prstGeom>
          <a:solidFill>
            <a:srgbClr val="169C9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02080"/>
            <a:ext cx="10728960" cy="824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defTabSz="1219170">
              <a:lnSpc>
                <a:spcPct val="135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measurement and assessment is undergoing a major paradigm shift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face of rapid advancement in Artificial Intelligence. Our focus today is on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Item Generation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9CE6CE8-DE3F-50A2-1D71-0BE91F9B9CC6}"/>
              </a:ext>
            </a:extLst>
          </p:cNvPr>
          <p:cNvSpPr/>
          <p:nvPr/>
        </p:nvSpPr>
        <p:spPr>
          <a:xfrm>
            <a:off x="731520" y="2728490"/>
            <a:ext cx="5120640" cy="158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493AA30-9BD2-6D83-2ABE-7771753AFB64}"/>
              </a:ext>
            </a:extLst>
          </p:cNvPr>
          <p:cNvSpPr/>
          <p:nvPr/>
        </p:nvSpPr>
        <p:spPr>
          <a:xfrm>
            <a:off x="731520" y="2728490"/>
            <a:ext cx="73152" cy="1584960"/>
          </a:xfrm>
          <a:prstGeom prst="rect">
            <a:avLst/>
          </a:prstGeom>
          <a:solidFill>
            <a:srgbClr val="169C9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D5FE2FE7-5CB9-8E07-EBE9-8D7707DC10FD}"/>
              </a:ext>
            </a:extLst>
          </p:cNvPr>
          <p:cNvSpPr/>
          <p:nvPr/>
        </p:nvSpPr>
        <p:spPr>
          <a:xfrm>
            <a:off x="1036320" y="278945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Item Generation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6CFDC45-48CF-11FB-7F00-A15997710979}"/>
              </a:ext>
            </a:extLst>
          </p:cNvPr>
          <p:cNvSpPr/>
          <p:nvPr/>
        </p:nvSpPr>
        <p:spPr>
          <a:xfrm>
            <a:off x="1036320" y="315521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defTabSz="1219170">
              <a:lnSpc>
                <a:spcPct val="125000"/>
              </a:lnSpc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systematic creation of test questions based on defined content, skills, or cognitive frameworks (test development, certifications, licensure).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7966F282-45D2-32A2-4748-DC8784491814}"/>
              </a:ext>
            </a:extLst>
          </p:cNvPr>
          <p:cNvSpPr/>
          <p:nvPr/>
        </p:nvSpPr>
        <p:spPr>
          <a:xfrm>
            <a:off x="6339840" y="2728490"/>
            <a:ext cx="5120640" cy="158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47C5538D-1A04-D42B-DF54-AA2D7296189F}"/>
              </a:ext>
            </a:extLst>
          </p:cNvPr>
          <p:cNvSpPr/>
          <p:nvPr/>
        </p:nvSpPr>
        <p:spPr>
          <a:xfrm>
            <a:off x="6339840" y="2728490"/>
            <a:ext cx="73152" cy="1584960"/>
          </a:xfrm>
          <a:prstGeom prst="rect">
            <a:avLst/>
          </a:prstGeom>
          <a:solidFill>
            <a:srgbClr val="169C9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8304B68-4057-593E-3018-1EB68F2D8AD5}"/>
              </a:ext>
            </a:extLst>
          </p:cNvPr>
          <p:cNvSpPr/>
          <p:nvPr/>
        </p:nvSpPr>
        <p:spPr>
          <a:xfrm>
            <a:off x="6644640" y="278945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Automatic Item Generation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E137E9F-4FCB-62A5-968D-34A4A6136D53}"/>
              </a:ext>
            </a:extLst>
          </p:cNvPr>
          <p:cNvSpPr/>
          <p:nvPr/>
        </p:nvSpPr>
        <p:spPr>
          <a:xfrm>
            <a:off x="6644639" y="3155210"/>
            <a:ext cx="4738707" cy="1086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defTabSz="1219170">
              <a:lnSpc>
                <a:spcPct val="125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AIG to refer to any technology-assisted item development process, including template-based approaches, Natural Language Processing (NLP) driven methods, and Large language model (LLM)-based generation.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D8BBB-EDDB-11FC-2332-45FAC796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5E83C-547A-4992-B5BC-771869A786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F6BD17-FEDF-75F4-F87D-2AB71E452881}"/>
              </a:ext>
            </a:extLst>
          </p:cNvPr>
          <p:cNvSpPr/>
          <p:nvPr/>
        </p:nvSpPr>
        <p:spPr>
          <a:xfrm>
            <a:off x="1018096" y="2347274"/>
            <a:ext cx="1498862" cy="1318181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A8B135-0117-3FD8-B6B3-703429E342E5}"/>
              </a:ext>
            </a:extLst>
          </p:cNvPr>
          <p:cNvSpPr/>
          <p:nvPr/>
        </p:nvSpPr>
        <p:spPr>
          <a:xfrm>
            <a:off x="1159114" y="2496532"/>
            <a:ext cx="1439154" cy="11689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Foundations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(1950s-1970s)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2C9760-6386-DEBF-06E0-1092D9F4FA9A}"/>
              </a:ext>
            </a:extLst>
          </p:cNvPr>
          <p:cNvSpPr/>
          <p:nvPr/>
        </p:nvSpPr>
        <p:spPr>
          <a:xfrm>
            <a:off x="3140698" y="2347274"/>
            <a:ext cx="1498862" cy="1318181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7F40A7-AD17-2E33-2F2D-68A17695AFDD}"/>
              </a:ext>
            </a:extLst>
          </p:cNvPr>
          <p:cNvSpPr/>
          <p:nvPr/>
        </p:nvSpPr>
        <p:spPr>
          <a:xfrm>
            <a:off x="3281716" y="2496532"/>
            <a:ext cx="1439154" cy="11689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 Design Era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(1980s-1990s)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6F7AA0-1794-1AC1-FB1F-6C70A40FA816}"/>
              </a:ext>
            </a:extLst>
          </p:cNvPr>
          <p:cNvSpPr/>
          <p:nvPr/>
        </p:nvSpPr>
        <p:spPr>
          <a:xfrm>
            <a:off x="5450266" y="2347274"/>
            <a:ext cx="1498862" cy="1318181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9172A56-CCE2-4D8B-CF18-8E33EBA1B3BE}"/>
              </a:ext>
            </a:extLst>
          </p:cNvPr>
          <p:cNvSpPr/>
          <p:nvPr/>
        </p:nvSpPr>
        <p:spPr>
          <a:xfrm>
            <a:off x="5591284" y="2496532"/>
            <a:ext cx="1439154" cy="11689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Formalization Period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(2000s-2010s)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434730-6B86-31A9-45B3-1FCFD9321616}"/>
              </a:ext>
            </a:extLst>
          </p:cNvPr>
          <p:cNvSpPr/>
          <p:nvPr/>
        </p:nvSpPr>
        <p:spPr>
          <a:xfrm>
            <a:off x="7861169" y="2347274"/>
            <a:ext cx="1498862" cy="1318181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C6AE34-9705-AB6B-EFF6-4F21F3E57021}"/>
              </a:ext>
            </a:extLst>
          </p:cNvPr>
          <p:cNvSpPr/>
          <p:nvPr/>
        </p:nvSpPr>
        <p:spPr>
          <a:xfrm>
            <a:off x="8002187" y="2496532"/>
            <a:ext cx="1439154" cy="11689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&amp; Deep Learning Era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(2015-2020s)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6F05A1-FB35-AFDE-6801-FDD35E24DB94}"/>
              </a:ext>
            </a:extLst>
          </p:cNvPr>
          <p:cNvSpPr/>
          <p:nvPr/>
        </p:nvSpPr>
        <p:spPr>
          <a:xfrm>
            <a:off x="10190762" y="2347274"/>
            <a:ext cx="1498862" cy="1318181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E5EBBC-403B-EA85-1CC5-839142279FE3}"/>
              </a:ext>
            </a:extLst>
          </p:cNvPr>
          <p:cNvSpPr/>
          <p:nvPr/>
        </p:nvSpPr>
        <p:spPr>
          <a:xfrm>
            <a:off x="10331780" y="2496532"/>
            <a:ext cx="1439154" cy="11689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Era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(2021-Present)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7F6B41-FF5E-9DA6-5115-A73CBB1A6BC6}"/>
              </a:ext>
            </a:extLst>
          </p:cNvPr>
          <p:cNvSpPr txBox="1"/>
          <p:nvPr/>
        </p:nvSpPr>
        <p:spPr>
          <a:xfrm>
            <a:off x="914400" y="235669"/>
            <a:ext cx="8029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AIG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48C5C95-DAA5-098B-A2B0-D6523A1B17F4}"/>
              </a:ext>
            </a:extLst>
          </p:cNvPr>
          <p:cNvSpPr/>
          <p:nvPr/>
        </p:nvSpPr>
        <p:spPr>
          <a:xfrm>
            <a:off x="1767527" y="1501054"/>
            <a:ext cx="2409825" cy="428625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9070D8-59DE-5F12-7A4D-B97EE1CC2E10}"/>
              </a:ext>
            </a:extLst>
          </p:cNvPr>
          <p:cNvSpPr/>
          <p:nvPr/>
        </p:nvSpPr>
        <p:spPr>
          <a:xfrm>
            <a:off x="8733646" y="1524864"/>
            <a:ext cx="2409825" cy="428625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Non-Template Based Method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39D4E08-F8E6-822D-9205-17112C5D2BCD}"/>
              </a:ext>
            </a:extLst>
          </p:cNvPr>
          <p:cNvSpPr/>
          <p:nvPr/>
        </p:nvSpPr>
        <p:spPr>
          <a:xfrm>
            <a:off x="5163683" y="1501053"/>
            <a:ext cx="2571750" cy="428625"/>
          </a:xfrm>
          <a:prstGeom prst="round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Template-Based 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923D03-52D1-62C1-4BFB-8FDFD9E54894}"/>
              </a:ext>
            </a:extLst>
          </p:cNvPr>
          <p:cNvSpPr/>
          <p:nvPr/>
        </p:nvSpPr>
        <p:spPr>
          <a:xfrm>
            <a:off x="638175" y="4297362"/>
            <a:ext cx="1800225" cy="2241550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1.Facet Theory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Prose Based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Concept Formation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Item Forms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940C7C-699F-9C5F-4218-87445942C083}"/>
              </a:ext>
            </a:extLst>
          </p:cNvPr>
          <p:cNvSpPr/>
          <p:nvPr/>
        </p:nvSpPr>
        <p:spPr>
          <a:xfrm>
            <a:off x="2872040" y="4297362"/>
            <a:ext cx="1800225" cy="2241550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1.Cognitive Design System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ETS Algorithmic Generation (1998)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ETS Seminar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B1550F-4F91-C026-1876-EB10B42CD120}"/>
              </a:ext>
            </a:extLst>
          </p:cNvPr>
          <p:cNvSpPr/>
          <p:nvPr/>
        </p:nvSpPr>
        <p:spPr>
          <a:xfrm>
            <a:off x="5235615" y="4262518"/>
            <a:ext cx="1800225" cy="2241550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sz="1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2002: Item generation for test development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Based System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Statistical/ NLP methods</a:t>
            </a:r>
          </a:p>
          <a:p>
            <a:pPr marL="342900" indent="-342900" algn="ctr">
              <a:buAutoNum type="arabicPeriod"/>
            </a:pPr>
            <a:r>
              <a:rPr lang="en-US" sz="1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Step AIG </a:t>
            </a:r>
          </a:p>
          <a:p>
            <a:pPr algn="ctr"/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C40931-204C-2492-C005-0D0B2B1935F6}"/>
              </a:ext>
            </a:extLst>
          </p:cNvPr>
          <p:cNvSpPr/>
          <p:nvPr/>
        </p:nvSpPr>
        <p:spPr>
          <a:xfrm>
            <a:off x="7641116" y="4262518"/>
            <a:ext cx="1800225" cy="2241550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methods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Finetuning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D3F49B-1CAE-4250-EB3C-3A1CE20F271D}"/>
              </a:ext>
            </a:extLst>
          </p:cNvPr>
          <p:cNvSpPr/>
          <p:nvPr/>
        </p:nvSpPr>
        <p:spPr>
          <a:xfrm>
            <a:off x="10190762" y="4262519"/>
            <a:ext cx="1800225" cy="2241550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Finetuning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32CC9214-F2CE-CC44-1529-5FE58AFDA891}"/>
              </a:ext>
            </a:extLst>
          </p:cNvPr>
          <p:cNvSpPr/>
          <p:nvPr/>
        </p:nvSpPr>
        <p:spPr>
          <a:xfrm>
            <a:off x="1628775" y="3781425"/>
            <a:ext cx="174588" cy="361950"/>
          </a:xfrm>
          <a:prstGeom prst="downArrow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3DC32411-8EB4-71EE-6F61-B9B9AD9D1A5E}"/>
              </a:ext>
            </a:extLst>
          </p:cNvPr>
          <p:cNvSpPr/>
          <p:nvPr/>
        </p:nvSpPr>
        <p:spPr>
          <a:xfrm>
            <a:off x="3727665" y="3800433"/>
            <a:ext cx="174588" cy="361950"/>
          </a:xfrm>
          <a:prstGeom prst="downArrow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9832EA9-B481-C772-CD3E-B1553BB73475}"/>
              </a:ext>
            </a:extLst>
          </p:cNvPr>
          <p:cNvSpPr/>
          <p:nvPr/>
        </p:nvSpPr>
        <p:spPr>
          <a:xfrm>
            <a:off x="6015429" y="3781425"/>
            <a:ext cx="174588" cy="361950"/>
          </a:xfrm>
          <a:prstGeom prst="downArrow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86CC9886-E47E-E58B-0A1E-B271274DBB66}"/>
              </a:ext>
            </a:extLst>
          </p:cNvPr>
          <p:cNvSpPr/>
          <p:nvPr/>
        </p:nvSpPr>
        <p:spPr>
          <a:xfrm>
            <a:off x="8453934" y="3783012"/>
            <a:ext cx="174588" cy="361950"/>
          </a:xfrm>
          <a:prstGeom prst="downArrow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C092459-1268-52BA-EAB0-1336E48469FC}"/>
              </a:ext>
            </a:extLst>
          </p:cNvPr>
          <p:cNvSpPr/>
          <p:nvPr/>
        </p:nvSpPr>
        <p:spPr>
          <a:xfrm>
            <a:off x="10940193" y="3781425"/>
            <a:ext cx="174588" cy="361950"/>
          </a:xfrm>
          <a:prstGeom prst="downArrow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D68849-0951-C190-215A-9DFC063254A1}"/>
              </a:ext>
            </a:extLst>
          </p:cNvPr>
          <p:cNvSpPr/>
          <p:nvPr/>
        </p:nvSpPr>
        <p:spPr>
          <a:xfrm>
            <a:off x="0" y="0"/>
            <a:ext cx="37197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444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Template-based and non-template AIG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7" y="2064174"/>
            <a:ext cx="539176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68095" y="2210478"/>
            <a:ext cx="498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Template-based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68095" y="2631102"/>
            <a:ext cx="51905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823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 item model with a stem, options, and auxiliary information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823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Elements are slots; values are drawn from constrained sets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823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Generation is an algorithm deterministic and auditable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823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Content validity inherited from the model, by construction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823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 generated item is a sibling of every other</a:t>
            </a:r>
          </a:p>
          <a:p>
            <a:pPr marL="342900" indent="-342900">
              <a:lnSpc>
                <a:spcPts val="1823"/>
              </a:lnSpc>
              <a:spcAft>
                <a:spcPts val="400"/>
              </a:spcAft>
              <a:buSzPct val="100000"/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Scaling means writing more models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ts val="1823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33007" y="2064174"/>
            <a:ext cx="5391760" cy="3383280"/>
          </a:xfrm>
          <a:prstGeom prst="roundRect">
            <a:avLst>
              <a:gd name="adj" fmla="val 2162"/>
            </a:avLst>
          </a:prstGeom>
          <a:solidFill>
            <a:srgbClr val="169C9A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34175" y="2210478"/>
            <a:ext cx="498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Non-template (LLM-based)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34174" y="2631102"/>
            <a:ext cx="5131291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natural-language specification instead of a slot template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Generation is probabilistic two runs differ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Enormous range; no inherited guarantee of anything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Content validity must be established after the fact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constraint work moves from the template into the context and the review</a:t>
            </a:r>
          </a:p>
          <a:p>
            <a:pPr marL="342900" marR="0" lvl="0" indent="-34290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designed to generate unique items</a:t>
            </a:r>
          </a:p>
          <a:p>
            <a:pPr marL="342900" indent="-342900">
              <a:lnSpc>
                <a:spcPts val="1688"/>
              </a:lnSpc>
              <a:spcAft>
                <a:spcPts val="400"/>
              </a:spcAft>
              <a:buSzPct val="100000"/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Scaling is free; screening is not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7566" y="695621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69FA7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69FA7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969FA7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56960"/>
            <a:ext cx="12192000" cy="701040"/>
          </a:xfrm>
          <a:prstGeom prst="rect">
            <a:avLst/>
          </a:prstGeom>
          <a:solidFill>
            <a:srgbClr val="169C9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6156960"/>
            <a:ext cx="12192000" cy="48768"/>
          </a:xfrm>
          <a:prstGeom prst="rect">
            <a:avLst/>
          </a:prstGeom>
          <a:solidFill>
            <a:srgbClr val="FFB71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 Framework For LLM</a:t>
            </a:r>
            <a:endParaRPr lang="en-US" sz="1600" i="1" dirty="0"/>
          </a:p>
        </p:txBody>
      </p:sp>
      <p:sp>
        <p:nvSpPr>
          <p:cNvPr id="6" name="Shape 4"/>
          <p:cNvSpPr/>
          <p:nvPr/>
        </p:nvSpPr>
        <p:spPr>
          <a:xfrm>
            <a:off x="731520" y="1072896"/>
            <a:ext cx="1463040" cy="48768"/>
          </a:xfrm>
          <a:prstGeom prst="rect">
            <a:avLst/>
          </a:prstGeom>
          <a:solidFill>
            <a:srgbClr val="FFB71B"/>
          </a:solidFill>
          <a:ln/>
        </p:spPr>
        <p:txBody>
          <a:bodyPr/>
          <a:lstStyle/>
          <a:p>
            <a:endParaRPr lang="en-US" sz="2400"/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3DD99790-EB36-0244-B7A0-A4273876542C}"/>
              </a:ext>
            </a:extLst>
          </p:cNvPr>
          <p:cNvGraphicFramePr/>
          <p:nvPr/>
        </p:nvGraphicFramePr>
        <p:xfrm>
          <a:off x="2700950" y="2018923"/>
          <a:ext cx="6995312" cy="2518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4" name="Arrow: Curved Left 33">
            <a:extLst>
              <a:ext uri="{FF2B5EF4-FFF2-40B4-BE49-F238E27FC236}">
                <a16:creationId xmlns:a16="http://schemas.microsoft.com/office/drawing/2014/main" id="{FA3A9D80-5083-9770-7453-13E93AA1C1D1}"/>
              </a:ext>
            </a:extLst>
          </p:cNvPr>
          <p:cNvSpPr/>
          <p:nvPr/>
        </p:nvSpPr>
        <p:spPr>
          <a:xfrm rot="5400000">
            <a:off x="4522508" y="4071809"/>
            <a:ext cx="701040" cy="197818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6390AB10-C678-19AF-32AC-EF4B0F45290D}"/>
              </a:ext>
            </a:extLst>
          </p:cNvPr>
          <p:cNvSpPr/>
          <p:nvPr/>
        </p:nvSpPr>
        <p:spPr>
          <a:xfrm rot="5400000">
            <a:off x="7273253" y="4027310"/>
            <a:ext cx="701040" cy="197818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Arrow: Curved Down 35">
            <a:extLst>
              <a:ext uri="{FF2B5EF4-FFF2-40B4-BE49-F238E27FC236}">
                <a16:creationId xmlns:a16="http://schemas.microsoft.com/office/drawing/2014/main" id="{63DF5D20-A38A-AB40-FD4D-33D5F82F7AD3}"/>
              </a:ext>
            </a:extLst>
          </p:cNvPr>
          <p:cNvSpPr/>
          <p:nvPr/>
        </p:nvSpPr>
        <p:spPr>
          <a:xfrm>
            <a:off x="3959382" y="1366651"/>
            <a:ext cx="2136618" cy="61091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Curved Down 36">
            <a:extLst>
              <a:ext uri="{FF2B5EF4-FFF2-40B4-BE49-F238E27FC236}">
                <a16:creationId xmlns:a16="http://schemas.microsoft.com/office/drawing/2014/main" id="{17D8BCB7-7121-AFD4-DF27-2F53025F86AB}"/>
              </a:ext>
            </a:extLst>
          </p:cNvPr>
          <p:cNvSpPr/>
          <p:nvPr/>
        </p:nvSpPr>
        <p:spPr>
          <a:xfrm>
            <a:off x="6476247" y="1366651"/>
            <a:ext cx="1988743" cy="65227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A5D93D-F184-F835-B16E-C5131D59B140}"/>
              </a:ext>
            </a:extLst>
          </p:cNvPr>
          <p:cNvSpPr txBox="1"/>
          <p:nvPr/>
        </p:nvSpPr>
        <p:spPr>
          <a:xfrm>
            <a:off x="9524246" y="5043756"/>
            <a:ext cx="2326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EFC49-C4E4-4DBA-730D-5B77BFB8C1E0}"/>
              </a:ext>
            </a:extLst>
          </p:cNvPr>
          <p:cNvSpPr txBox="1"/>
          <p:nvPr/>
        </p:nvSpPr>
        <p:spPr>
          <a:xfrm>
            <a:off x="355600" y="5508962"/>
            <a:ext cx="11345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Makinde, H. S. (2026). Automatic item generation using multi-agent large language model [Doctoral dissertation, University of North Carolina Greensboro]. ProQuest Dissertations &amp; Theses Global.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6-09-22 103702">
            <a:hlinkClick r:id="" action="ppaction://media"/>
            <a:extLst>
              <a:ext uri="{FF2B5EF4-FFF2-40B4-BE49-F238E27FC236}">
                <a16:creationId xmlns:a16="http://schemas.microsoft.com/office/drawing/2014/main" id="{612087F3-C532-8E17-E1E1-BA8D3C9F85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08225" y="227965"/>
            <a:ext cx="6226176" cy="576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5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578FAB9-7F3C-4FF3-7DD8-5711138F1A00}"/>
              </a:ext>
            </a:extLst>
          </p:cNvPr>
          <p:cNvSpPr txBox="1">
            <a:spLocks/>
          </p:cNvSpPr>
          <p:nvPr/>
        </p:nvSpPr>
        <p:spPr>
          <a:xfrm>
            <a:off x="430461" y="496913"/>
            <a:ext cx="10883392" cy="47242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algn="ctr">
              <a:lnSpc>
                <a:spcPts val="3520"/>
              </a:lnSpc>
            </a:pPr>
            <a:r>
              <a:rPr lang="en-US" sz="4800" b="0" dirty="0">
                <a:solidFill>
                  <a:srgbClr val="1B2430"/>
                </a:solidFill>
                <a:latin typeface="Times New Roman" panose="02020603050405020304" pitchFamily="18" charset="0"/>
                <a:ea typeface="Georgia" pitchFamily="18" charset="-122"/>
                <a:cs typeface="Times New Roman" panose="02020603050405020304" pitchFamily="18" charset="0"/>
              </a:rPr>
              <a:t>Foundation models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3151F14-1298-7BB2-64FA-0B9BC55A950F}"/>
              </a:ext>
            </a:extLst>
          </p:cNvPr>
          <p:cNvSpPr/>
          <p:nvPr/>
        </p:nvSpPr>
        <p:spPr>
          <a:xfrm>
            <a:off x="530214" y="1491601"/>
            <a:ext cx="2520950" cy="1937399"/>
          </a:xfrm>
          <a:prstGeom prst="roundRect">
            <a:avLst>
              <a:gd name="adj" fmla="val 8978"/>
            </a:avLst>
          </a:prstGeom>
          <a:solidFill>
            <a:srgbClr val="169C9A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C372D4B-32BA-91FF-E932-F8CE02CC919F}"/>
              </a:ext>
            </a:extLst>
          </p:cNvPr>
          <p:cNvSpPr/>
          <p:nvPr/>
        </p:nvSpPr>
        <p:spPr>
          <a:xfrm>
            <a:off x="734857" y="1670844"/>
            <a:ext cx="2175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Anthropic · Claude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A4FEA8F-8955-DB20-9FEB-B3332C5D4ECD}"/>
              </a:ext>
            </a:extLst>
          </p:cNvPr>
          <p:cNvSpPr/>
          <p:nvPr/>
        </p:nvSpPr>
        <p:spPr>
          <a:xfrm>
            <a:off x="734857" y="1962944"/>
            <a:ext cx="2175014" cy="107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Opus 5.5 </a:t>
            </a:r>
          </a:p>
          <a:p>
            <a:pPr marL="285750" indent="-2857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Sonnet 5.5 </a:t>
            </a:r>
          </a:p>
          <a:p>
            <a:pPr marL="285750" indent="-2857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Fable 5.1 4</a:t>
            </a:r>
          </a:p>
          <a:p>
            <a:pPr marL="285750" indent="-2857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Haiku 4.5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E20390E-859A-5CCC-D570-EB7EA5E44C09}"/>
              </a:ext>
            </a:extLst>
          </p:cNvPr>
          <p:cNvSpPr/>
          <p:nvPr/>
        </p:nvSpPr>
        <p:spPr>
          <a:xfrm>
            <a:off x="3209914" y="1491601"/>
            <a:ext cx="2520950" cy="1937399"/>
          </a:xfrm>
          <a:prstGeom prst="roundRect">
            <a:avLst>
              <a:gd name="adj" fmla="val 8978"/>
            </a:avLst>
          </a:prstGeom>
          <a:solidFill>
            <a:srgbClr val="169C9A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51E95FE-A16E-3E7D-8152-85DED01323FD}"/>
              </a:ext>
            </a:extLst>
          </p:cNvPr>
          <p:cNvSpPr/>
          <p:nvPr/>
        </p:nvSpPr>
        <p:spPr>
          <a:xfrm>
            <a:off x="3414557" y="1670844"/>
            <a:ext cx="2175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OpenAI · GPT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736DFE4-5A6B-AF99-EE07-6DF03D771957}"/>
              </a:ext>
            </a:extLst>
          </p:cNvPr>
          <p:cNvSpPr/>
          <p:nvPr/>
        </p:nvSpPr>
        <p:spPr>
          <a:xfrm>
            <a:off x="3414557" y="1962944"/>
            <a:ext cx="2175014" cy="1195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GPT-6 Astra </a:t>
            </a:r>
          </a:p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GPT-5.6 Sol </a:t>
            </a:r>
          </a:p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 err="1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gpt-oss</a:t>
            </a: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(open)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F36C46B-58F5-7827-E5D2-8EC60F96CDA8}"/>
              </a:ext>
            </a:extLst>
          </p:cNvPr>
          <p:cNvSpPr/>
          <p:nvPr/>
        </p:nvSpPr>
        <p:spPr>
          <a:xfrm>
            <a:off x="430461" y="3951262"/>
            <a:ext cx="2520950" cy="1937399"/>
          </a:xfrm>
          <a:prstGeom prst="roundRect">
            <a:avLst>
              <a:gd name="adj" fmla="val 8978"/>
            </a:avLst>
          </a:prstGeom>
          <a:solidFill>
            <a:srgbClr val="169C9A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8B5795C-7AA4-206A-F18D-597B1B72D550}"/>
              </a:ext>
            </a:extLst>
          </p:cNvPr>
          <p:cNvSpPr/>
          <p:nvPr/>
        </p:nvSpPr>
        <p:spPr>
          <a:xfrm>
            <a:off x="635104" y="4130505"/>
            <a:ext cx="2175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Google · Gemini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3413150-388E-513A-90E4-ECC5556DFB02}"/>
              </a:ext>
            </a:extLst>
          </p:cNvPr>
          <p:cNvSpPr/>
          <p:nvPr/>
        </p:nvSpPr>
        <p:spPr>
          <a:xfrm>
            <a:off x="635104" y="4422605"/>
            <a:ext cx="2175014" cy="47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Gemini 3.1 Pro </a:t>
            </a:r>
          </a:p>
          <a:p>
            <a:pPr marL="285750" indent="-2857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Gemini 3.8 Flash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DA6BCCF-1060-5EFA-53A4-C9666C7DC646}"/>
              </a:ext>
            </a:extLst>
          </p:cNvPr>
          <p:cNvSpPr/>
          <p:nvPr/>
        </p:nvSpPr>
        <p:spPr>
          <a:xfrm>
            <a:off x="3110160" y="3951262"/>
            <a:ext cx="2625725" cy="1937399"/>
          </a:xfrm>
          <a:prstGeom prst="roundRect">
            <a:avLst>
              <a:gd name="adj" fmla="val 8978"/>
            </a:avLst>
          </a:prstGeom>
          <a:solidFill>
            <a:srgbClr val="169C9A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13E25F8-F02F-8135-4FFB-7D40C873E07C}"/>
              </a:ext>
            </a:extLst>
          </p:cNvPr>
          <p:cNvSpPr/>
          <p:nvPr/>
        </p:nvSpPr>
        <p:spPr>
          <a:xfrm>
            <a:off x="3314804" y="4130505"/>
            <a:ext cx="21750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Open-weight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8E221FC-BB86-6679-7F7B-3FECE97B950C}"/>
              </a:ext>
            </a:extLst>
          </p:cNvPr>
          <p:cNvSpPr/>
          <p:nvPr/>
        </p:nvSpPr>
        <p:spPr>
          <a:xfrm>
            <a:off x="3314804" y="4422605"/>
            <a:ext cx="2175014" cy="107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DeepSeek V4 </a:t>
            </a:r>
          </a:p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Kimi K3 </a:t>
            </a:r>
          </a:p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GLM-5.3 </a:t>
            </a:r>
          </a:p>
          <a:p>
            <a:pPr marL="171450" indent="-171450" algn="l">
              <a:lnSpc>
                <a:spcPts val="1755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B24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Qwen · MiMo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56EE7-38CB-46DF-DC9E-D0CD9AE8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470" y="1293924"/>
            <a:ext cx="5113383" cy="4778154"/>
          </a:xfrm>
          <a:prstGeom prst="rect">
            <a:avLst/>
          </a:prstGeom>
          <a:solidFill>
            <a:srgbClr val="169C9A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8747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9C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121408" y="1874520"/>
            <a:ext cx="93204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toolkit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2207768" y="2880359"/>
            <a:ext cx="5962566" cy="1463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framework we build on for the rest of the day</a:t>
            </a:r>
          </a:p>
          <a:p>
            <a:pPr marL="342900" marR="0" lvl="0" indent="-3429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we choose the framework as compared to others </a:t>
            </a:r>
          </a:p>
          <a:p>
            <a:pPr marL="342900" marR="0" lvl="0" indent="-3429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Basic training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How to build an AI application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66927" y="12344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 can build and AI application either using the provider SDK or using a framework 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6" y="1783080"/>
            <a:ext cx="5382616" cy="3639312"/>
          </a:xfrm>
          <a:prstGeom prst="roundRect">
            <a:avLst>
              <a:gd name="adj" fmla="val 2010"/>
            </a:avLst>
          </a:prstGeom>
          <a:solidFill>
            <a:srgbClr val="F4F1F3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68094" y="1929384"/>
            <a:ext cx="498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 · Direct provider SDK and Python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41246" y="229514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 call one vendor’s client and write everything above it yourself.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1246" y="2660904"/>
            <a:ext cx="4833976" cy="1216152"/>
          </a:xfrm>
          <a:prstGeom prst="roundRect">
            <a:avLst>
              <a:gd name="adj" fmla="val 4511"/>
            </a:avLst>
          </a:prstGeom>
          <a:solidFill>
            <a:srgbClr val="169C9A"/>
          </a:solidFill>
          <a:ln w="1270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50974" y="2660904"/>
            <a:ext cx="46145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Your Python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prompts, parsing, retries, batching, the tool loop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41246" y="3877056"/>
            <a:ext cx="483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1246" y="4032504"/>
            <a:ext cx="4833976" cy="530352"/>
          </a:xfrm>
          <a:prstGeom prst="roundRect">
            <a:avLst>
              <a:gd name="adj" fmla="val 10345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50974" y="4032504"/>
            <a:ext cx="461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Provider SDK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openai · anthropic · google-genai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6" y="4562856"/>
            <a:ext cx="483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1246" y="4718304"/>
            <a:ext cx="4833976" cy="530352"/>
          </a:xfrm>
          <a:prstGeom prst="roundRect">
            <a:avLst>
              <a:gd name="adj" fmla="val 10345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50974" y="4718304"/>
            <a:ext cx="461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Model API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HTTPS endpoint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42150" y="1783080"/>
            <a:ext cx="5382616" cy="3639312"/>
          </a:xfrm>
          <a:prstGeom prst="roundRect">
            <a:avLst>
              <a:gd name="adj" fmla="val 2010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43318" y="1929384"/>
            <a:ext cx="498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 · Through a framework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516470" y="229514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 call one interface; it calls the vendor’s client for you.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16470" y="2660904"/>
            <a:ext cx="4833976" cy="530352"/>
          </a:xfrm>
          <a:prstGeom prst="roundRect">
            <a:avLst>
              <a:gd name="adj" fmla="val 10345"/>
            </a:avLst>
          </a:prstGeom>
          <a:solidFill>
            <a:srgbClr val="169C9A"/>
          </a:solidFill>
          <a:ln w="1270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626198" y="2660904"/>
            <a:ext cx="461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Your Python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prompts, and the logic that is yours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516470" y="3191256"/>
            <a:ext cx="483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16470" y="3346704"/>
            <a:ext cx="4833976" cy="530352"/>
          </a:xfrm>
          <a:prstGeom prst="roundRect">
            <a:avLst>
              <a:gd name="adj" fmla="val 10345"/>
            </a:avLst>
          </a:prstGeom>
          <a:solidFill>
            <a:srgbClr val="169C9A"/>
          </a:solidFill>
          <a:ln w="12700">
            <a:solidFill>
              <a:srgbClr val="40619D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626198" y="3346704"/>
            <a:ext cx="461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Framework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LangChain · LangGraph · LlamaIndex · Haystack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516470" y="3877056"/>
            <a:ext cx="483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16470" y="4032504"/>
            <a:ext cx="483397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D5D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626198" y="4032504"/>
            <a:ext cx="461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Provider SDK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called for you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516470" y="4562856"/>
            <a:ext cx="483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16470" y="4718304"/>
            <a:ext cx="4833976" cy="530352"/>
          </a:xfrm>
          <a:prstGeom prst="roundRect">
            <a:avLst>
              <a:gd name="adj" fmla="val 10345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626198" y="4718304"/>
            <a:ext cx="461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Model API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HTTPS endpoint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6207" y="452591"/>
            <a:ext cx="10286926" cy="56692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Choosing a framework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926287"/>
              </p:ext>
            </p:extLst>
          </p:nvPr>
        </p:nvGraphicFramePr>
        <p:xfrm>
          <a:off x="433114" y="1227377"/>
          <a:ext cx="10692270" cy="4800892"/>
        </p:xfrm>
        <a:graphic>
          <a:graphicData uri="http://schemas.openxmlformats.org/drawingml/2006/table">
            <a:tbl>
              <a:tblPr/>
              <a:tblGrid>
                <a:gridCol w="141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Framework</a:t>
                      </a:r>
                      <a:endParaRPr lang="en-US" sz="14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88900" marB="88900" anchor="ctr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Built for</a:t>
                      </a:r>
                      <a:endParaRPr lang="en-US" sz="14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88900" marB="88900" anchor="ctr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Why not the default for today</a:t>
                      </a:r>
                      <a:endParaRPr lang="en-US" sz="1400" dirty="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88900" marB="88900" anchor="ctr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5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LangChain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General composition of LLM applications, provider-agnostic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This is what we build on today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LangGraph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Stateful, multi-step agent graphs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We do use it, but reached through LangChain’s agent constructor rather than directly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LlamaIndex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Indexing and retrieval first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Excellent at retrieval, narrower once you step outside it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CrewAI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Role-based multi-agent orchestration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Assumes the multi-agent pattern before you have established you need it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Haystack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Production search and RAG pipelines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More setup than a four-hour room allows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DSPy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Programmatic optimization of prompts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Powerful, but it optimizes against a metric you must already be able to measure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Provider SDKs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Direct access to one vendor’s API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Nothing wrong with them but every provider swap becomes a rewrite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01600" marB="101600">
                    <a:lnL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EB69-6663-4717-4B6A-D3CE0B4A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5621" y="1595995"/>
            <a:ext cx="3289266" cy="1058808"/>
          </a:xfrm>
        </p:spPr>
        <p:txBody>
          <a:bodyPr anchor="b"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Langchain Training </a:t>
            </a:r>
          </a:p>
        </p:txBody>
      </p:sp>
      <p:pic>
        <p:nvPicPr>
          <p:cNvPr id="5" name="Picture 4" descr="Close-up of chain link">
            <a:extLst>
              <a:ext uri="{FF2B5EF4-FFF2-40B4-BE49-F238E27FC236}">
                <a16:creationId xmlns:a16="http://schemas.microsoft.com/office/drawing/2014/main" id="{2609A28A-1587-3CC2-107C-33BE3824D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3" r="22825" b="-1"/>
          <a:stretch>
            <a:fillRect/>
          </a:stretch>
        </p:blipFill>
        <p:spPr>
          <a:xfrm>
            <a:off x="0" y="0"/>
            <a:ext cx="650590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38E26A-597E-D480-4B63-186D06CD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700" y="2823741"/>
            <a:ext cx="2455109" cy="48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54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9" y="253116"/>
            <a:ext cx="60758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Introduction to LangChain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66929" y="1042416"/>
            <a:ext cx="796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framework for building applications on top of large language models: pre-built components for the parts every such application needs, and a common interface so they compose.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9500" y="3726163"/>
            <a:ext cx="11057839" cy="1234440"/>
          </a:xfrm>
          <a:prstGeom prst="roundRect">
            <a:avLst>
              <a:gd name="adj" fmla="val 5926"/>
            </a:avLst>
          </a:prstGeom>
          <a:solidFill>
            <a:srgbClr val="169C9A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0668" y="3872467"/>
            <a:ext cx="10655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use a framework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0668" y="4293091"/>
            <a:ext cx="1065550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Everything in this workshop could be written against a provider SDK directly. We use LangChain so that when a model is retired and one will be the fix is a single argument rather than a rebuild of every notebook.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7567" y="6126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69F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CCC79-C706-28C9-E5CB-FD1BDC589510}"/>
              </a:ext>
            </a:extLst>
          </p:cNvPr>
          <p:cNvSpPr txBox="1"/>
          <p:nvPr/>
        </p:nvSpPr>
        <p:spPr>
          <a:xfrm>
            <a:off x="1206270" y="2054089"/>
            <a:ext cx="6096000" cy="143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755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One object per provider, built from a model 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1755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Prompts as reusable templates, not string concatenation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1755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Components that compose with a single operator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1755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Typed, validated output instead of text you must parse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1755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Retrieval, tools and agents in the same vocabulary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D1750B34-C394-6353-74A4-57A1ACCFBED1}"/>
              </a:ext>
            </a:extLst>
          </p:cNvPr>
          <p:cNvSpPr txBox="1"/>
          <p:nvPr/>
        </p:nvSpPr>
        <p:spPr>
          <a:xfrm>
            <a:off x="998140" y="1752586"/>
            <a:ext cx="498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38"/>
              </a:lnSpc>
              <a:buNone/>
            </a:pPr>
            <a:r>
              <a:rPr lang="en-US" sz="15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it gives you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E15D-68FE-5C01-EEF2-D7B3C7E4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93170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Ecosystem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ED18-CF49-BAFB-29DA-7EC933CB4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368" y="2005583"/>
            <a:ext cx="9198864" cy="32004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framework that provides pre-built components and abstractions to quickly build applications using Large Language Models.</a:t>
            </a: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library for building stateful, multi-actor applications with LLMs using graph-based workflows where nodes represent actions and edges represent transitions.</a:t>
            </a: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LangSmith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platform for debugging, testing, evaluating, and monitoring LLM applications with tracing, datasets, and performance analytics.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DF03F-F3F9-C527-FC74-210B3A249345}"/>
              </a:ext>
            </a:extLst>
          </p:cNvPr>
          <p:cNvSpPr/>
          <p:nvPr/>
        </p:nvSpPr>
        <p:spPr>
          <a:xfrm>
            <a:off x="0" y="0"/>
            <a:ext cx="12192000" cy="1718733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Ecosystem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83628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8" y="4297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eight core components of LangChain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This is the spine of the essentials notebook, and every notebook after it is some arrangement of these eight.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F4F1F3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68096" y="1664208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Models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68096" y="2084832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One object per provider, built from a model ID. Swapping providers is one argument.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04540" y="1517904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F4F1F3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605708" y="1664208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Messages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05708" y="2084832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System, human, and AI roles instead of one flat string. Your standing policy lives in the system message.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42152" y="1517904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F4F1F3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43320" y="1664208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Tools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43320" y="2084832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 functions the model may call: look up a standard, run a check, query a bank.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79763" y="1517904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F4F1F3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280931" y="1664208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Agents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280931" y="2084832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loop that chooses which tool to call, reads the result, and decides whether to stop.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" y="3291840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169C9A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68096" y="3438144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Structured output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68096" y="3858768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schema bound to the model, so it returns a typed object instead of text you must parse.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04540" y="3291840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169C9A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605708" y="3438144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Short-term memory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605708" y="3858768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State carried across turns of one thread, so a workflow can refer to what came earlier.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42152" y="3291840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169C9A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43320" y="3438144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Streaming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43320" y="3858768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Tokens as they arrive instead of one long wait. What makes a slow generation bearable.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79763" y="3291840"/>
            <a:ext cx="2545004" cy="1609344"/>
          </a:xfrm>
          <a:prstGeom prst="roundRect">
            <a:avLst>
              <a:gd name="adj" fmla="val 4545"/>
            </a:avLst>
          </a:prstGeom>
          <a:solidFill>
            <a:srgbClr val="169C9A"/>
          </a:solidFill>
          <a:ln w="12700">
            <a:solidFill>
              <a:srgbClr val="EDF3F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280931" y="3438144"/>
            <a:ext cx="214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Middleware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9280931" y="3858768"/>
            <a:ext cx="21426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Hooks around the agent loop: call limits, PII redaction, summarization, approval gates.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" y="513892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F4F1F3"/>
          </a:solidFill>
          <a:ln w="12700">
            <a:solidFill>
              <a:srgbClr val="F4F1F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68096" y="5303520"/>
            <a:ext cx="106555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Two more sit alongside that list rather than inside it, and you will reach for both constantly: prompt templates and chaining.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7567" y="6126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69F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Prompt templates and chaining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66928" y="104241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template is a prompt with named holes. A chain is what happens when you join components with a single operator and it is the shape almost every notebook today takes.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11057839" cy="2304288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 w="12700">
            <a:solidFill>
              <a:srgbClr val="E6E3E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86384" y="1920240"/>
            <a:ext cx="1061892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prompt = ChatPromptTemplate.from_messages([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("system", "You write {grade} {subject} items. One key, four options."),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("human",  "Write one item on {standard}."),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])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chain = prompt | model | parser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chain.invoke({"grade": 8, "subject": "science", "standard": "PS.3.2"})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chain.batch([...], config={"max_concurrency": 4})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7567" y="61264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69FA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5333-8804-C4E0-6C8C-B937668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21225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Keep Learning: 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C3887FCA-8963-A62A-AD4C-05FCD2934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74145-253C-FF0C-4B40-156B8016D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300000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 overview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memory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and event streaming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migration guide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 Academy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127902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1628</Words>
  <Application>Microsoft Office PowerPoint</Application>
  <PresentationFormat>Widescreen</PresentationFormat>
  <Paragraphs>271</Paragraphs>
  <Slides>19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Georgia</vt:lpstr>
      <vt:lpstr>Gill Sans</vt:lpstr>
      <vt:lpstr>Neue Haas Grotesk Text Pro</vt:lpstr>
      <vt:lpstr>Times New Roman</vt:lpstr>
      <vt:lpstr>Wingdings</vt:lpstr>
      <vt:lpstr>VanillaVTI</vt:lpstr>
      <vt:lpstr>Office Theme</vt:lpstr>
      <vt:lpstr>Generative AI for Item Development  A Hands-On Workshop </vt:lpstr>
      <vt:lpstr>About Us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Langchain Training </vt:lpstr>
      <vt:lpstr>PowerPoint Presentation</vt:lpstr>
      <vt:lpstr>Langchain Ecosystem</vt:lpstr>
      <vt:lpstr>PowerPoint Presentation</vt:lpstr>
      <vt:lpstr>PowerPoint Presentation</vt:lpstr>
      <vt:lpstr>Keep Learning: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Makinde</dc:creator>
  <cp:lastModifiedBy>Henry Makinde</cp:lastModifiedBy>
  <cp:revision>23</cp:revision>
  <dcterms:created xsi:type="dcterms:W3CDTF">2026-09-26T19:18:16Z</dcterms:created>
  <dcterms:modified xsi:type="dcterms:W3CDTF">2026-10-05T04:39:38Z</dcterms:modified>
</cp:coreProperties>
</file>